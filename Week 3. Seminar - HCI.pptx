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authors.xml" ContentType="application/vnd.ms-powerpoi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48" r:id="rId2"/>
    <p:sldId id="449" r:id="rId3"/>
    <p:sldId id="451" r:id="rId4"/>
    <p:sldId id="479" r:id="rId5"/>
    <p:sldId id="453" r:id="rId6"/>
    <p:sldId id="454" r:id="rId7"/>
    <p:sldId id="455" r:id="rId8"/>
    <p:sldId id="456" r:id="rId9"/>
    <p:sldId id="441" r:id="rId10"/>
    <p:sldId id="457" r:id="rId11"/>
    <p:sldId id="458" r:id="rId12"/>
    <p:sldId id="4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5960765-EA67-3D2D-23CF-EF180D189BA6}" name="Oliva-Girbau, Angels" initials="AO" userId="S::AOGirbau@qa.com::9aea77bf-fdfe-4d29-a02f-b0429c4459d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138"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8/10/relationships/authors" Target="author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11F1C"/>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79F4BC5-362E-4942-AE1F-1F832371A875}"/>
              </a:ext>
            </a:extLst>
          </p:cNvPr>
          <p:cNvSpPr txBox="1"/>
          <p:nvPr userDrawn="1"/>
        </p:nvSpPr>
        <p:spPr>
          <a:xfrm>
            <a:off x="586597" y="4816234"/>
            <a:ext cx="3885086" cy="390157"/>
          </a:xfrm>
          <a:prstGeom prst="rect">
            <a:avLst/>
          </a:prstGeom>
        </p:spPr>
        <p:txBody>
          <a:bodyPr vert="horz" wrap="square" lIns="0" tIns="0" rIns="0" bIns="0" rtlCol="0" anchor="t" anchorCtr="0">
            <a:normAutofit/>
          </a:bodyPr>
          <a:lstStyle/>
          <a:p>
            <a:pPr algn="l"/>
            <a:r>
              <a:rPr lang="en-GB" sz="1800" b="1">
                <a:solidFill>
                  <a:srgbClr val="FEF6F0"/>
                </a:solidFill>
                <a:latin typeface="Arial" panose="020B0604020202020204" pitchFamily="34" charset="0"/>
                <a:cs typeface="Arial" panose="020B0604020202020204" pitchFamily="34" charset="0"/>
              </a:rPr>
              <a:t>qahighereducation.com</a:t>
            </a:r>
          </a:p>
        </p:txBody>
      </p:sp>
      <p:sp>
        <p:nvSpPr>
          <p:cNvPr id="13" name="Title 12">
            <a:extLst>
              <a:ext uri="{FF2B5EF4-FFF2-40B4-BE49-F238E27FC236}">
                <a16:creationId xmlns:a16="http://schemas.microsoft.com/office/drawing/2014/main" id="{A9698A62-F5AA-4D74-98E6-57AB6EFF50C8}"/>
              </a:ext>
            </a:extLst>
          </p:cNvPr>
          <p:cNvSpPr>
            <a:spLocks noGrp="1"/>
          </p:cNvSpPr>
          <p:nvPr>
            <p:ph type="title" hasCustomPrompt="1"/>
          </p:nvPr>
        </p:nvSpPr>
        <p:spPr>
          <a:xfrm>
            <a:off x="478796" y="2727339"/>
            <a:ext cx="11160753" cy="759600"/>
          </a:xfrm>
        </p:spPr>
        <p:txBody>
          <a:bodyPr anchor="ctr">
            <a:noAutofit/>
          </a:bodyPr>
          <a:lstStyle>
            <a:lvl1pPr>
              <a:defRPr lang="en-GB" sz="5600" cap="none" baseline="0">
                <a:solidFill>
                  <a:srgbClr val="FEF6F0"/>
                </a:solidFill>
              </a:defRPr>
            </a:lvl1pPr>
          </a:lstStyle>
          <a:p>
            <a:pPr marL="0" lvl="0"/>
            <a:r>
              <a:rPr lang="en-US"/>
              <a:t>Click to add title</a:t>
            </a:r>
            <a:endParaRPr lang="en-GB"/>
          </a:p>
        </p:txBody>
      </p:sp>
      <p:sp>
        <p:nvSpPr>
          <p:cNvPr id="16" name="Text Placeholder 15">
            <a:extLst>
              <a:ext uri="{FF2B5EF4-FFF2-40B4-BE49-F238E27FC236}">
                <a16:creationId xmlns:a16="http://schemas.microsoft.com/office/drawing/2014/main" id="{6349BDDA-1774-4338-B3DF-330260872D1C}"/>
              </a:ext>
            </a:extLst>
          </p:cNvPr>
          <p:cNvSpPr>
            <a:spLocks noGrp="1"/>
          </p:cNvSpPr>
          <p:nvPr>
            <p:ph type="body" sz="quarter" idx="10" hasCustomPrompt="1"/>
          </p:nvPr>
        </p:nvSpPr>
        <p:spPr>
          <a:xfrm>
            <a:off x="504000" y="3491758"/>
            <a:ext cx="11160752" cy="547200"/>
          </a:xfrm>
        </p:spPr>
        <p:txBody>
          <a:bodyPr>
            <a:normAutofit/>
          </a:bodyPr>
          <a:lstStyle>
            <a:lvl1pPr algn="l">
              <a:defRPr lang="en-GB" sz="2400" b="1" dirty="0">
                <a:solidFill>
                  <a:schemeClr val="bg1"/>
                </a:solidFill>
              </a:defRPr>
            </a:lvl1pPr>
          </a:lstStyle>
          <a:p>
            <a:pPr marL="0" lvl="0" indent="0">
              <a:buNone/>
            </a:pPr>
            <a:r>
              <a:rPr lang="en-GB"/>
              <a:t>Click to add subtitle</a:t>
            </a:r>
          </a:p>
        </p:txBody>
      </p:sp>
      <p:pic>
        <p:nvPicPr>
          <p:cNvPr id="3" name="Picture 2">
            <a:extLst>
              <a:ext uri="{FF2B5EF4-FFF2-40B4-BE49-F238E27FC236}">
                <a16:creationId xmlns:a16="http://schemas.microsoft.com/office/drawing/2014/main" id="{255A1543-A13A-4CCB-9397-558DE2B66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553" y="517537"/>
            <a:ext cx="3249177" cy="671291"/>
          </a:xfrm>
          <a:prstGeom prst="rect">
            <a:avLst/>
          </a:prstGeom>
        </p:spPr>
      </p:pic>
    </p:spTree>
    <p:extLst>
      <p:ext uri="{BB962C8B-B14F-4D97-AF65-F5344CB8AC3E}">
        <p14:creationId xmlns:p14="http://schemas.microsoft.com/office/powerpoint/2010/main" val="2373446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_and_Conten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EAD1B3B-6002-4B6D-957F-8458DA7E7DF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2" name="Title 1"/>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hasCustomPrompt="1"/>
          </p:nvPr>
        </p:nvSpPr>
        <p:spPr>
          <a:xfrm>
            <a:off x="478800" y="1249200"/>
            <a:ext cx="10875600" cy="5144400"/>
          </a:xfrm>
          <a:prstGeom prst="rect">
            <a:avLst/>
          </a:prstGeom>
        </p:spPr>
        <p:txBody>
          <a:bodyPr>
            <a:normAutofit/>
          </a:bodyPr>
          <a:lstStyle>
            <a:lvl1pPr marL="228600" indent="-228600" algn="l" defTabSz="914400" rtl="0" eaLnBrk="1" latinLnBrk="0" hangingPunct="1">
              <a:lnSpc>
                <a:spcPct val="150000"/>
              </a:lnSpc>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6B0BE7-D16B-4D34-B974-71265B7FFB65}" type="datetimeFigureOut">
              <a:rPr lang="en-GB" smtClean="0"/>
              <a:t>28/06/2024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29EBE78-CE6B-4E09-842D-3085BE8AA51D}" type="slidenum">
              <a:rPr lang="en-GB" smtClean="0"/>
              <a:t>‹#›</a:t>
            </a:fld>
            <a:endParaRPr lang="en-GB"/>
          </a:p>
        </p:txBody>
      </p:sp>
      <p:sp>
        <p:nvSpPr>
          <p:cNvPr id="11" name="Rectangle 10">
            <a:extLst>
              <a:ext uri="{FF2B5EF4-FFF2-40B4-BE49-F238E27FC236}">
                <a16:creationId xmlns:a16="http://schemas.microsoft.com/office/drawing/2014/main" id="{D31FCA7B-50DF-4488-B2F7-D3356F815718}"/>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8829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_Content_1">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8800" y="1248601"/>
            <a:ext cx="5181600" cy="5144999"/>
          </a:xfrm>
          <a:prstGeom prst="rect">
            <a:avLst/>
          </a:prstGeom>
        </p:spPr>
        <p:txBody>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248601"/>
            <a:ext cx="5181600" cy="5144999"/>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06B0BE7-D16B-4D34-B974-71265B7FFB65}" type="datetimeFigureOut">
              <a:rPr lang="en-GB" smtClean="0"/>
              <a:t>28/06/2024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1" name="Picture 10">
            <a:extLst>
              <a:ext uri="{FF2B5EF4-FFF2-40B4-BE49-F238E27FC236}">
                <a16:creationId xmlns:a16="http://schemas.microsoft.com/office/drawing/2014/main" id="{717D32F0-1E8B-4120-809D-10E8D1B1C68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2" name="Title 1">
            <a:extLst>
              <a:ext uri="{FF2B5EF4-FFF2-40B4-BE49-F238E27FC236}">
                <a16:creationId xmlns:a16="http://schemas.microsoft.com/office/drawing/2014/main" id="{91718958-DF9B-431E-A448-8432CF941371}"/>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14" name="Rectangle 13">
            <a:extLst>
              <a:ext uri="{FF2B5EF4-FFF2-40B4-BE49-F238E27FC236}">
                <a16:creationId xmlns:a16="http://schemas.microsoft.com/office/drawing/2014/main" id="{DF2473B1-6881-4DD0-824B-7D40792DBAC0}"/>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5837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_Content_2">
    <p:spTree>
      <p:nvGrpSpPr>
        <p:cNvPr id="1" name=""/>
        <p:cNvGrpSpPr/>
        <p:nvPr/>
      </p:nvGrpSpPr>
      <p:grpSpPr>
        <a:xfrm>
          <a:off x="0" y="0"/>
          <a:ext cx="0" cy="0"/>
          <a:chOff x="0" y="0"/>
          <a:chExt cx="0" cy="0"/>
        </a:xfrm>
      </p:grpSpPr>
      <p:sp>
        <p:nvSpPr>
          <p:cNvPr id="2" name="Title 1"/>
          <p:cNvSpPr>
            <a:spLocks noGrp="1"/>
          </p:cNvSpPr>
          <p:nvPr>
            <p:ph type="title"/>
          </p:nvPr>
        </p:nvSpPr>
        <p:spPr>
          <a:xfrm>
            <a:off x="3296220" y="162598"/>
            <a:ext cx="8607406" cy="1392429"/>
          </a:xfrm>
          <a:prstGeom prst="rect">
            <a:avLst/>
          </a:prstGeom>
        </p:spPr>
        <p:txBody>
          <a:bodyPr anchor="ctr"/>
          <a:lstStyle>
            <a:lvl1pPr>
              <a:defRPr>
                <a:solidFill>
                  <a:srgbClr val="063532"/>
                </a:solidFill>
              </a:defRPr>
            </a:lvl1pPr>
          </a:lstStyle>
          <a:p>
            <a:r>
              <a:rPr lang="en-US"/>
              <a:t>Click to edit Master title style</a:t>
            </a:r>
            <a:endParaRPr lang="en-GB"/>
          </a:p>
        </p:txBody>
      </p:sp>
      <p:sp>
        <p:nvSpPr>
          <p:cNvPr id="3" name="Content Placeholder 2"/>
          <p:cNvSpPr>
            <a:spLocks noGrp="1"/>
          </p:cNvSpPr>
          <p:nvPr>
            <p:ph sz="half" idx="1"/>
          </p:nvPr>
        </p:nvSpPr>
        <p:spPr>
          <a:xfrm>
            <a:off x="478800" y="1906980"/>
            <a:ext cx="5181600" cy="4486619"/>
          </a:xfrm>
          <a:prstGeom prst="rect">
            <a:avLst/>
          </a:prstGeom>
        </p:spPr>
        <p:txBody>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906980"/>
            <a:ext cx="5181600" cy="4486619"/>
          </a:xfrm>
          <a:prstGeom prst="rect">
            <a:avLst/>
          </a:prstGeom>
        </p:spPr>
        <p:txBody>
          <a:bodyPr>
            <a:normAutofit/>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06B0BE7-D16B-4D34-B974-71265B7FFB65}" type="datetimeFigureOut">
              <a:rPr lang="en-GB" smtClean="0"/>
              <a:t>28/06/2024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2" name="Picture 11">
            <a:extLst>
              <a:ext uri="{FF2B5EF4-FFF2-40B4-BE49-F238E27FC236}">
                <a16:creationId xmlns:a16="http://schemas.microsoft.com/office/drawing/2014/main" id="{AC2D06BA-0193-4A43-9CD0-5FE039BBDA3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558102"/>
            <a:ext cx="2710347" cy="628625"/>
          </a:xfrm>
          <a:prstGeom prst="rect">
            <a:avLst/>
          </a:prstGeom>
        </p:spPr>
      </p:pic>
      <p:sp>
        <p:nvSpPr>
          <p:cNvPr id="14" name="Rectangle 13">
            <a:extLst>
              <a:ext uri="{FF2B5EF4-FFF2-40B4-BE49-F238E27FC236}">
                <a16:creationId xmlns:a16="http://schemas.microsoft.com/office/drawing/2014/main" id="{D5BE2B3F-5751-4DA1-B4F6-09BE9D0AFF88}"/>
              </a:ext>
            </a:extLst>
          </p:cNvPr>
          <p:cNvSpPr/>
          <p:nvPr userDrawn="1"/>
        </p:nvSpPr>
        <p:spPr>
          <a:xfrm>
            <a:off x="3016650" y="558102"/>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3426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ntent_3">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800" y="1249135"/>
            <a:ext cx="5157787" cy="55057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78800" y="1801091"/>
            <a:ext cx="5157787"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249134"/>
            <a:ext cx="5158800" cy="5508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1799713"/>
            <a:ext cx="5158800"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06B0BE7-D16B-4D34-B974-71265B7FFB65}" type="datetimeFigureOut">
              <a:rPr lang="en-GB" smtClean="0"/>
              <a:t>28/06/2024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29EBE78-CE6B-4E09-842D-3085BE8AA51D}" type="slidenum">
              <a:rPr lang="en-GB" smtClean="0"/>
              <a:t>‹#›</a:t>
            </a:fld>
            <a:endParaRPr lang="en-GB"/>
          </a:p>
        </p:txBody>
      </p:sp>
      <p:pic>
        <p:nvPicPr>
          <p:cNvPr id="13" name="Picture 12">
            <a:extLst>
              <a:ext uri="{FF2B5EF4-FFF2-40B4-BE49-F238E27FC236}">
                <a16:creationId xmlns:a16="http://schemas.microsoft.com/office/drawing/2014/main" id="{6BD8D940-C6E9-4ACD-B524-28491155E44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4" name="Title 1">
            <a:extLst>
              <a:ext uri="{FF2B5EF4-FFF2-40B4-BE49-F238E27FC236}">
                <a16:creationId xmlns:a16="http://schemas.microsoft.com/office/drawing/2014/main" id="{096BB317-9E49-4E62-94FA-3BC1A6435449}"/>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16" name="Rectangle 15">
            <a:extLst>
              <a:ext uri="{FF2B5EF4-FFF2-40B4-BE49-F238E27FC236}">
                <a16:creationId xmlns:a16="http://schemas.microsoft.com/office/drawing/2014/main" id="{D5F2423B-3474-4445-ADB3-0F6BA8B1CEE2}"/>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3872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06B0BE7-D16B-4D34-B974-71265B7FFB65}" type="datetimeFigureOut">
              <a:rPr lang="en-GB" smtClean="0"/>
              <a:t>28/06/2024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29EBE78-CE6B-4E09-842D-3085BE8AA51D}" type="slidenum">
              <a:rPr lang="en-GB" smtClean="0"/>
              <a:t>‹#›</a:t>
            </a:fld>
            <a:endParaRPr lang="en-GB"/>
          </a:p>
        </p:txBody>
      </p:sp>
      <p:pic>
        <p:nvPicPr>
          <p:cNvPr id="8" name="Picture 7">
            <a:extLst>
              <a:ext uri="{FF2B5EF4-FFF2-40B4-BE49-F238E27FC236}">
                <a16:creationId xmlns:a16="http://schemas.microsoft.com/office/drawing/2014/main" id="{F1F851AD-FF0A-4D0E-8285-D3EE7857AD5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9" name="Title 1">
            <a:extLst>
              <a:ext uri="{FF2B5EF4-FFF2-40B4-BE49-F238E27FC236}">
                <a16:creationId xmlns:a16="http://schemas.microsoft.com/office/drawing/2014/main" id="{3DD6C0A6-DDAA-4CEF-8DBF-38AD56E319F4}"/>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12" name="Rectangle 11">
            <a:extLst>
              <a:ext uri="{FF2B5EF4-FFF2-40B4-BE49-F238E27FC236}">
                <a16:creationId xmlns:a16="http://schemas.microsoft.com/office/drawing/2014/main" id="{5E9BA10A-F7D3-40BB-8223-BC166EACD246}"/>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9558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6B0BE7-D16B-4D34-B974-71265B7FFB65}" type="datetimeFigureOut">
              <a:rPr lang="en-GB" smtClean="0"/>
              <a:t>28/06/2024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29EBE78-CE6B-4E09-842D-3085BE8AA51D}" type="slidenum">
              <a:rPr lang="en-GB" smtClean="0"/>
              <a:t>‹#›</a:t>
            </a:fld>
            <a:endParaRPr lang="en-GB"/>
          </a:p>
        </p:txBody>
      </p:sp>
    </p:spTree>
    <p:extLst>
      <p:ext uri="{BB962C8B-B14F-4D97-AF65-F5344CB8AC3E}">
        <p14:creationId xmlns:p14="http://schemas.microsoft.com/office/powerpoint/2010/main" val="67515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_Break_1">
    <p:bg>
      <p:bgPr>
        <a:solidFill>
          <a:srgbClr val="E11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415F-DBFD-4DDD-B47A-BA56E9C237CF}"/>
              </a:ext>
            </a:extLst>
          </p:cNvPr>
          <p:cNvSpPr>
            <a:spLocks noGrp="1"/>
          </p:cNvSpPr>
          <p:nvPr>
            <p:ph type="title" hasCustomPrompt="1"/>
          </p:nvPr>
        </p:nvSpPr>
        <p:spPr>
          <a:xfrm>
            <a:off x="547200" y="2082800"/>
            <a:ext cx="6132848" cy="2351314"/>
          </a:xfrm>
        </p:spPr>
        <p:txBody>
          <a:bodyPr anchor="ctr">
            <a:noAutofit/>
          </a:bodyPr>
          <a:lstStyle>
            <a:lvl1pPr>
              <a:defRPr sz="5600" cap="none" baseline="0">
                <a:solidFill>
                  <a:srgbClr val="FEF6F0"/>
                </a:solidFill>
              </a:defRPr>
            </a:lvl1pPr>
          </a:lstStyle>
          <a:p>
            <a:r>
              <a:rPr lang="en-US"/>
              <a:t>Click to add title</a:t>
            </a:r>
            <a:endParaRPr lang="en-GB"/>
          </a:p>
        </p:txBody>
      </p:sp>
      <p:sp>
        <p:nvSpPr>
          <p:cNvPr id="13" name="TextBox 12">
            <a:extLst>
              <a:ext uri="{FF2B5EF4-FFF2-40B4-BE49-F238E27FC236}">
                <a16:creationId xmlns:a16="http://schemas.microsoft.com/office/drawing/2014/main" id="{BB58425E-F767-40D4-8F2E-BA7E0F48360F}"/>
              </a:ext>
            </a:extLst>
          </p:cNvPr>
          <p:cNvSpPr txBox="1"/>
          <p:nvPr userDrawn="1"/>
        </p:nvSpPr>
        <p:spPr>
          <a:xfrm>
            <a:off x="665976" y="4520951"/>
            <a:ext cx="3885086" cy="390157"/>
          </a:xfrm>
          <a:prstGeom prst="rect">
            <a:avLst/>
          </a:prstGeom>
        </p:spPr>
        <p:txBody>
          <a:bodyPr vert="horz" wrap="square" lIns="0" tIns="0" rIns="0" bIns="0" rtlCol="0" anchor="t" anchorCtr="0">
            <a:normAutofit/>
          </a:bodyPr>
          <a:lstStyle/>
          <a:p>
            <a:pPr algn="l"/>
            <a:r>
              <a:rPr lang="en-GB" sz="1800" b="1">
                <a:solidFill>
                  <a:srgbClr val="FEF6F0"/>
                </a:solidFill>
                <a:latin typeface="Arial" panose="020B0604020202020204" pitchFamily="34" charset="0"/>
                <a:cs typeface="Arial" panose="020B0604020202020204" pitchFamily="34" charset="0"/>
              </a:rPr>
              <a:t>qahighereducation.com</a:t>
            </a:r>
          </a:p>
        </p:txBody>
      </p:sp>
      <p:pic>
        <p:nvPicPr>
          <p:cNvPr id="5" name="Picture 4">
            <a:extLst>
              <a:ext uri="{FF2B5EF4-FFF2-40B4-BE49-F238E27FC236}">
                <a16:creationId xmlns:a16="http://schemas.microsoft.com/office/drawing/2014/main" id="{84EA1FCC-5D7C-457D-B5D0-944588B44E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48" y="516346"/>
            <a:ext cx="3249177" cy="671291"/>
          </a:xfrm>
          <a:prstGeom prst="rect">
            <a:avLst/>
          </a:prstGeom>
        </p:spPr>
      </p:pic>
    </p:spTree>
    <p:extLst>
      <p:ext uri="{BB962C8B-B14F-4D97-AF65-F5344CB8AC3E}">
        <p14:creationId xmlns:p14="http://schemas.microsoft.com/office/powerpoint/2010/main" val="288555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6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6400" y="1249200"/>
            <a:ext cx="10515600" cy="759600"/>
          </a:xfrm>
          <a:prstGeom prst="rect">
            <a:avLst/>
          </a:prstGeom>
        </p:spPr>
        <p:txBody>
          <a:bodyPr anchor="b">
            <a:normAutofit/>
          </a:bodyPr>
          <a:lstStyle/>
          <a:p>
            <a:pPr marL="0" lvl="0"/>
            <a:r>
              <a:rPr lang="en-US"/>
              <a:t>Click to edit Master title style</a:t>
            </a:r>
            <a:endParaRPr lang="en-GB"/>
          </a:p>
        </p:txBody>
      </p:sp>
      <p:sp>
        <p:nvSpPr>
          <p:cNvPr id="3" name="Text Placeholder 2"/>
          <p:cNvSpPr>
            <a:spLocks noGrp="1"/>
          </p:cNvSpPr>
          <p:nvPr>
            <p:ph type="body" idx="1"/>
          </p:nvPr>
        </p:nvSpPr>
        <p:spPr>
          <a:xfrm>
            <a:off x="478800" y="2354400"/>
            <a:ext cx="10875600" cy="4039200"/>
          </a:xfrm>
          <a:prstGeom prst="rect">
            <a:avLst/>
          </a:prstGeom>
        </p:spPr>
        <p:txBody>
          <a:bodyPr>
            <a:normAutofit/>
          </a:bodyPr>
          <a:lstStyle/>
          <a:p>
            <a:pPr lvl="0">
              <a:lnSpc>
                <a:spcPct val="150000"/>
              </a:lnSpc>
            </a:pPr>
            <a:r>
              <a:rPr lang="en-US"/>
              <a:t>Edit Master text styles</a:t>
            </a:r>
          </a:p>
          <a:p>
            <a:pPr lvl="1">
              <a:lnSpc>
                <a:spcPct val="150000"/>
              </a:lnSpc>
            </a:pPr>
            <a:r>
              <a:rPr lang="en-US"/>
              <a:t>Second level</a:t>
            </a:r>
          </a:p>
          <a:p>
            <a:pPr lvl="2">
              <a:lnSpc>
                <a:spcPct val="150000"/>
              </a:lnSpc>
            </a:pPr>
            <a:r>
              <a:rPr lang="en-US"/>
              <a:t>Third level</a:t>
            </a:r>
          </a:p>
          <a:p>
            <a:pPr lvl="3">
              <a:lnSpc>
                <a:spcPct val="150000"/>
              </a:lnSpc>
            </a:pPr>
            <a:r>
              <a:rPr lang="en-US"/>
              <a:t>Fourth level</a:t>
            </a:r>
          </a:p>
          <a:p>
            <a:pPr lvl="4">
              <a:lnSpc>
                <a:spcPct val="150000"/>
              </a:lnSpc>
            </a:pPr>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6B0BE7-D16B-4D34-B974-71265B7FFB65}" type="datetimeFigureOut">
              <a:rPr lang="en-GB" smtClean="0"/>
              <a:t>28/06/2024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EBE78-CE6B-4E09-842D-3085BE8AA51D}" type="slidenum">
              <a:rPr lang="en-GB" smtClean="0"/>
              <a:t>‹#›</a:t>
            </a:fld>
            <a:endParaRPr lang="en-GB"/>
          </a:p>
        </p:txBody>
      </p:sp>
    </p:spTree>
    <p:extLst>
      <p:ext uri="{BB962C8B-B14F-4D97-AF65-F5344CB8AC3E}">
        <p14:creationId xmlns:p14="http://schemas.microsoft.com/office/powerpoint/2010/main" val="39696122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914400" rtl="0" eaLnBrk="1" latinLnBrk="0" hangingPunct="1">
        <a:lnSpc>
          <a:spcPct val="90000"/>
        </a:lnSpc>
        <a:spcBef>
          <a:spcPct val="0"/>
        </a:spcBef>
        <a:buNone/>
        <a:defRPr lang="en-GB" sz="3200" b="1" kern="1200">
          <a:solidFill>
            <a:srgbClr val="06353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28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GB" sz="24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5E2E-4931-6CFC-8ABE-7EAB64C68954}"/>
              </a:ext>
            </a:extLst>
          </p:cNvPr>
          <p:cNvSpPr>
            <a:spLocks noGrp="1"/>
          </p:cNvSpPr>
          <p:nvPr>
            <p:ph type="title"/>
          </p:nvPr>
        </p:nvSpPr>
        <p:spPr/>
        <p:txBody>
          <a:bodyPr/>
          <a:lstStyle/>
          <a:p>
            <a:r>
              <a:rPr lang="en-GB"/>
              <a:t>Seminar</a:t>
            </a:r>
          </a:p>
        </p:txBody>
      </p:sp>
      <p:sp>
        <p:nvSpPr>
          <p:cNvPr id="3" name="Subtitle 2">
            <a:extLst>
              <a:ext uri="{FF2B5EF4-FFF2-40B4-BE49-F238E27FC236}">
                <a16:creationId xmlns:a16="http://schemas.microsoft.com/office/drawing/2014/main" id="{18E11059-E64B-F409-6BD7-2B552008CB68}"/>
              </a:ext>
            </a:extLst>
          </p:cNvPr>
          <p:cNvSpPr>
            <a:spLocks noGrp="1"/>
          </p:cNvSpPr>
          <p:nvPr>
            <p:ph type="body" sz="quarter" idx="10"/>
          </p:nvPr>
        </p:nvSpPr>
        <p:spPr/>
        <p:txBody>
          <a:bodyPr/>
          <a:lstStyle/>
          <a:p>
            <a:r>
              <a:rPr lang="en-GB"/>
              <a:t>Week 3 seminar| Human and Computer Interaction</a:t>
            </a:r>
          </a:p>
        </p:txBody>
      </p:sp>
    </p:spTree>
    <p:extLst>
      <p:ext uri="{BB962C8B-B14F-4D97-AF65-F5344CB8AC3E}">
        <p14:creationId xmlns:p14="http://schemas.microsoft.com/office/powerpoint/2010/main" val="419223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Outline</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fontScale="92500"/>
          </a:bodyPr>
          <a:lstStyle/>
          <a:p>
            <a:pPr marL="0" indent="0">
              <a:buNone/>
            </a:pPr>
            <a:r>
              <a:rPr lang="en-GB"/>
              <a:t>In this week’s seminar session, you will apply the following concepts from the lecture session:</a:t>
            </a:r>
          </a:p>
          <a:p>
            <a:pPr lvl="1"/>
            <a:r>
              <a:rPr lang="en-GB"/>
              <a:t>Incorporating </a:t>
            </a:r>
            <a:r>
              <a:rPr lang="en-GB" b="1"/>
              <a:t>user’s perception </a:t>
            </a:r>
            <a:r>
              <a:rPr lang="en-GB"/>
              <a:t>and </a:t>
            </a:r>
            <a:r>
              <a:rPr lang="en-GB" b="1"/>
              <a:t>cognition </a:t>
            </a:r>
            <a:r>
              <a:rPr lang="en-GB"/>
              <a:t>in visual Perception Design Elements: importance of colour, spacing, contrast, and typography in interface design.</a:t>
            </a:r>
          </a:p>
          <a:p>
            <a:pPr lvl="1"/>
            <a:r>
              <a:rPr lang="en-GB"/>
              <a:t>Incorporating </a:t>
            </a:r>
            <a:r>
              <a:rPr lang="en-GB" b="1"/>
              <a:t>cognition, accessibility, </a:t>
            </a:r>
            <a:r>
              <a:rPr lang="en-GB"/>
              <a:t>and </a:t>
            </a:r>
            <a:r>
              <a:rPr lang="en-GB" b="1"/>
              <a:t>user context sensitivity </a:t>
            </a:r>
            <a:r>
              <a:rPr lang="en-GB"/>
              <a:t>in interface design.</a:t>
            </a:r>
          </a:p>
          <a:p>
            <a:pPr lvl="1"/>
            <a:r>
              <a:rPr lang="en-GB"/>
              <a:t>Ensuring the application of </a:t>
            </a:r>
            <a:r>
              <a:rPr lang="en-GB" b="1"/>
              <a:t>Norman's Design Principles</a:t>
            </a:r>
          </a:p>
          <a:p>
            <a:pPr lvl="1"/>
            <a:r>
              <a:rPr lang="en-GB" b="1"/>
              <a:t>Legal and Ethical Compliance</a:t>
            </a:r>
            <a:r>
              <a:rPr lang="en-GB"/>
              <a:t>: Ensuring GDPR and BERA compliance by identifying sensitive data, obtaining explicit consent, and implementing data minimization and protection strategies.</a:t>
            </a:r>
          </a:p>
        </p:txBody>
      </p:sp>
    </p:spTree>
    <p:extLst>
      <p:ext uri="{BB962C8B-B14F-4D97-AF65-F5344CB8AC3E}">
        <p14:creationId xmlns:p14="http://schemas.microsoft.com/office/powerpoint/2010/main" val="1949381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sz="3200" kern="100">
                <a:effectLst/>
                <a:latin typeface="Aptos" panose="020B0004020202020204" pitchFamily="34" charset="0"/>
                <a:ea typeface="Aptos" panose="020B0004020202020204" pitchFamily="34" charset="0"/>
                <a:cs typeface="Times New Roman" panose="02020603050405020304" pitchFamily="18" charset="0"/>
              </a:rPr>
              <a:t>Session outline</a:t>
            </a:r>
            <a:endParaRPr lang="en-GB"/>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a:xfrm>
            <a:off x="478800" y="1134900"/>
            <a:ext cx="10665450" cy="5144400"/>
          </a:xfrm>
        </p:spPr>
        <p:txBody>
          <a:bodyPr>
            <a:noAutofit/>
          </a:bodyPr>
          <a:lstStyle/>
          <a:p>
            <a:pPr marL="0" indent="0">
              <a:lnSpc>
                <a:spcPct val="107000"/>
              </a:lnSpc>
              <a:spcAft>
                <a:spcPts val="800"/>
              </a:spcAft>
              <a:buNone/>
            </a:pPr>
            <a:r>
              <a:rPr lang="en-GB" sz="2000" kern="100">
                <a:ea typeface="Aptos" panose="020B0004020202020204" pitchFamily="34" charset="0"/>
              </a:rPr>
              <a:t>Today’s session is structured into a </a:t>
            </a:r>
            <a:r>
              <a:rPr lang="en-GB" sz="2000" b="1" kern="100">
                <a:effectLst/>
                <a:ea typeface="Aptos" panose="020B0004020202020204" pitchFamily="34" charset="0"/>
              </a:rPr>
              <a:t>group project</a:t>
            </a:r>
            <a:r>
              <a:rPr lang="en-GB" sz="2000"/>
              <a:t>.</a:t>
            </a:r>
          </a:p>
          <a:p>
            <a:pPr>
              <a:lnSpc>
                <a:spcPct val="107000"/>
              </a:lnSpc>
              <a:spcAft>
                <a:spcPts val="800"/>
              </a:spcAft>
            </a:pPr>
            <a:r>
              <a:rPr lang="en-GB" sz="1800" b="1" kern="100">
                <a:effectLst/>
                <a:ea typeface="Aptos" panose="020B0004020202020204" pitchFamily="34" charset="0"/>
              </a:rPr>
              <a:t>Project title</a:t>
            </a:r>
            <a:r>
              <a:rPr lang="en-GB" sz="1800" kern="100">
                <a:effectLst/>
                <a:ea typeface="Aptos" panose="020B0004020202020204" pitchFamily="34" charset="0"/>
              </a:rPr>
              <a:t>: Tutorial Mini Project on Web Development Learning Application:</a:t>
            </a:r>
            <a:r>
              <a:rPr lang="en-GB" sz="1800" kern="100">
                <a:ea typeface="Aptos" panose="020B0004020202020204" pitchFamily="34" charset="0"/>
              </a:rPr>
              <a:t> </a:t>
            </a:r>
            <a:r>
              <a:rPr lang="en-GB" sz="1800" kern="100">
                <a:effectLst/>
                <a:ea typeface="Aptos" panose="020B0004020202020204" pitchFamily="34" charset="0"/>
              </a:rPr>
              <a:t>Designing the First Lesson on Variables in Python</a:t>
            </a:r>
            <a:endParaRPr lang="en-GB" sz="1800"/>
          </a:p>
          <a:p>
            <a:pPr>
              <a:lnSpc>
                <a:spcPct val="107000"/>
              </a:lnSpc>
              <a:spcAft>
                <a:spcPts val="800"/>
              </a:spcAft>
            </a:pPr>
            <a:r>
              <a:rPr lang="en-GB" sz="1800" b="1" kern="100">
                <a:ea typeface="Aptos" panose="020B0004020202020204" pitchFamily="34" charset="0"/>
              </a:rPr>
              <a:t>Goal</a:t>
            </a:r>
            <a:r>
              <a:rPr lang="en-GB" sz="1800" kern="100">
                <a:ea typeface="Aptos" panose="020B0004020202020204" pitchFamily="34" charset="0"/>
              </a:rPr>
              <a:t>: To document the d</a:t>
            </a:r>
            <a:r>
              <a:rPr lang="en-GB" sz="1800" kern="100">
                <a:effectLst/>
                <a:ea typeface="Aptos" panose="020B0004020202020204" pitchFamily="34" charset="0"/>
              </a:rPr>
              <a:t>esign of a web </a:t>
            </a:r>
            <a:r>
              <a:rPr lang="en-GB" sz="1800" kern="100">
                <a:ea typeface="Aptos" panose="020B0004020202020204" pitchFamily="34" charset="0"/>
              </a:rPr>
              <a:t>a</a:t>
            </a:r>
            <a:r>
              <a:rPr lang="en-GB" sz="1800" kern="100">
                <a:effectLst/>
                <a:ea typeface="Aptos" panose="020B0004020202020204" pitchFamily="34" charset="0"/>
              </a:rPr>
              <a:t>pplication that GCSE Students can use to learn more about the topic of </a:t>
            </a:r>
            <a:r>
              <a:rPr lang="en-GB" sz="1800" kern="100">
                <a:ea typeface="Aptos" panose="020B0004020202020204" pitchFamily="34" charset="0"/>
              </a:rPr>
              <a:t>w</a:t>
            </a:r>
            <a:r>
              <a:rPr lang="en-GB" sz="1800" kern="100">
                <a:effectLst/>
                <a:ea typeface="Aptos" panose="020B0004020202020204" pitchFamily="34" charset="0"/>
              </a:rPr>
              <a:t>eb </a:t>
            </a:r>
            <a:r>
              <a:rPr lang="en-GB" sz="1800" kern="100">
                <a:ea typeface="Aptos" panose="020B0004020202020204" pitchFamily="34" charset="0"/>
              </a:rPr>
              <a:t>d</a:t>
            </a:r>
            <a:r>
              <a:rPr lang="en-GB" sz="1800" kern="100">
                <a:effectLst/>
                <a:ea typeface="Aptos" panose="020B0004020202020204" pitchFamily="34" charset="0"/>
              </a:rPr>
              <a:t>evelopment.</a:t>
            </a:r>
          </a:p>
          <a:p>
            <a:r>
              <a:rPr lang="en-GB" sz="1800" b="1"/>
              <a:t>Objectives</a:t>
            </a:r>
            <a:r>
              <a:rPr lang="en-GB" sz="1800"/>
              <a:t>:</a:t>
            </a:r>
          </a:p>
          <a:p>
            <a:pPr lvl="1">
              <a:lnSpc>
                <a:spcPct val="107000"/>
              </a:lnSpc>
              <a:spcAft>
                <a:spcPts val="800"/>
              </a:spcAft>
            </a:pPr>
            <a:r>
              <a:rPr lang="en-GB" sz="1800" kern="100">
                <a:effectLst/>
                <a:ea typeface="Aptos" panose="020B0004020202020204" pitchFamily="34" charset="0"/>
              </a:rPr>
              <a:t>Develop practical skills in interface design, UX, and legal compliance.</a:t>
            </a:r>
          </a:p>
          <a:p>
            <a:pPr lvl="1">
              <a:lnSpc>
                <a:spcPct val="107000"/>
              </a:lnSpc>
              <a:spcAft>
                <a:spcPts val="800"/>
              </a:spcAft>
            </a:pPr>
            <a:r>
              <a:rPr lang="en-GB" sz="1800" kern="100">
                <a:effectLst/>
                <a:ea typeface="Aptos" panose="020B0004020202020204" pitchFamily="34" charset="0"/>
              </a:rPr>
              <a:t>Collaborate to create a beta version of the first lesson for the learning app.</a:t>
            </a:r>
          </a:p>
          <a:p>
            <a:r>
              <a:rPr lang="en-GB" sz="1800" b="1"/>
              <a:t>Resources</a:t>
            </a:r>
            <a:r>
              <a:rPr lang="en-GB" sz="1800"/>
              <a:t> to support your design:</a:t>
            </a:r>
          </a:p>
          <a:p>
            <a:pPr lvl="1"/>
            <a:r>
              <a:rPr lang="en-GB" sz="1800"/>
              <a:t>List of Norman’s design principles, </a:t>
            </a:r>
          </a:p>
          <a:p>
            <a:pPr lvl="1"/>
            <a:r>
              <a:rPr lang="en-GB" sz="1800"/>
              <a:t>Interface design principles, </a:t>
            </a:r>
          </a:p>
          <a:p>
            <a:pPr lvl="1"/>
            <a:r>
              <a:rPr lang="en-GB" sz="1800"/>
              <a:t>Notes on GDPR and BERA.</a:t>
            </a:r>
            <a:endParaRPr lang="en-GB" sz="1800" kern="100">
              <a:effectLst/>
              <a:ea typeface="Aptos" panose="020B0004020202020204" pitchFamily="34" charset="0"/>
            </a:endParaRPr>
          </a:p>
        </p:txBody>
      </p:sp>
    </p:spTree>
    <p:extLst>
      <p:ext uri="{BB962C8B-B14F-4D97-AF65-F5344CB8AC3E}">
        <p14:creationId xmlns:p14="http://schemas.microsoft.com/office/powerpoint/2010/main" val="3970919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sz="3200" kern="100">
                <a:effectLst/>
                <a:latin typeface="Aptos" panose="020B0004020202020204" pitchFamily="34" charset="0"/>
                <a:ea typeface="Aptos" panose="020B0004020202020204" pitchFamily="34" charset="0"/>
                <a:cs typeface="Times New Roman" panose="02020603050405020304" pitchFamily="18" charset="0"/>
              </a:rPr>
              <a:t>Session Outline</a:t>
            </a:r>
            <a:endParaRPr lang="en-GB"/>
          </a:p>
        </p:txBody>
      </p:sp>
      <p:sp>
        <p:nvSpPr>
          <p:cNvPr id="4" name="Rectangle 3">
            <a:extLst>
              <a:ext uri="{FF2B5EF4-FFF2-40B4-BE49-F238E27FC236}">
                <a16:creationId xmlns:a16="http://schemas.microsoft.com/office/drawing/2014/main" id="{86052AEC-3245-F0CC-5FE3-54AD5AA2C44D}"/>
              </a:ext>
            </a:extLst>
          </p:cNvPr>
          <p:cNvSpPr/>
          <p:nvPr/>
        </p:nvSpPr>
        <p:spPr>
          <a:xfrm>
            <a:off x="575382" y="4033198"/>
            <a:ext cx="1590046" cy="903964"/>
          </a:xfrm>
          <a:prstGeom prst="rect">
            <a:avLst/>
          </a:prstGeom>
          <a:solidFill>
            <a:srgbClr val="F6BF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4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Group Discussion on Visual Perception</a:t>
            </a:r>
            <a:endParaRPr kumimoji="0" lang="en-GB" sz="13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grpSp>
        <p:nvGrpSpPr>
          <p:cNvPr id="23" name="Group 22">
            <a:extLst>
              <a:ext uri="{FF2B5EF4-FFF2-40B4-BE49-F238E27FC236}">
                <a16:creationId xmlns:a16="http://schemas.microsoft.com/office/drawing/2014/main" id="{D564BEBB-8C22-02DF-E567-577DDB989BE1}"/>
              </a:ext>
            </a:extLst>
          </p:cNvPr>
          <p:cNvGrpSpPr/>
          <p:nvPr/>
        </p:nvGrpSpPr>
        <p:grpSpPr>
          <a:xfrm>
            <a:off x="575382" y="2540898"/>
            <a:ext cx="10942243" cy="1267053"/>
            <a:chOff x="575382" y="1987244"/>
            <a:chExt cx="10942243" cy="1820708"/>
          </a:xfrm>
        </p:grpSpPr>
        <p:sp>
          <p:nvSpPr>
            <p:cNvPr id="11" name="Arrow: Pentagon 10">
              <a:extLst>
                <a:ext uri="{FF2B5EF4-FFF2-40B4-BE49-F238E27FC236}">
                  <a16:creationId xmlns:a16="http://schemas.microsoft.com/office/drawing/2014/main" id="{E862CB9D-8A58-5406-B770-3A65739108F7}"/>
                </a:ext>
              </a:extLst>
            </p:cNvPr>
            <p:cNvSpPr/>
            <p:nvPr/>
          </p:nvSpPr>
          <p:spPr>
            <a:xfrm>
              <a:off x="9282074" y="1987244"/>
              <a:ext cx="2235551" cy="1820708"/>
            </a:xfrm>
            <a:prstGeom prst="homePlate">
              <a:avLst>
                <a:gd name="adj" fmla="val 31333"/>
              </a:avLst>
            </a:prstGeom>
            <a:solidFill>
              <a:srgbClr val="E11F1C">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Step 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20 minutes</a:t>
              </a:r>
            </a:p>
          </p:txBody>
        </p:sp>
        <p:sp>
          <p:nvSpPr>
            <p:cNvPr id="15" name="Arrow: Pentagon 14">
              <a:extLst>
                <a:ext uri="{FF2B5EF4-FFF2-40B4-BE49-F238E27FC236}">
                  <a16:creationId xmlns:a16="http://schemas.microsoft.com/office/drawing/2014/main" id="{A60277CB-14BC-DB57-1EDB-124E8F2AA879}"/>
                </a:ext>
              </a:extLst>
            </p:cNvPr>
            <p:cNvSpPr/>
            <p:nvPr/>
          </p:nvSpPr>
          <p:spPr>
            <a:xfrm>
              <a:off x="7486727" y="1987244"/>
              <a:ext cx="2235551" cy="1820708"/>
            </a:xfrm>
            <a:prstGeom prst="homePlate">
              <a:avLst>
                <a:gd name="adj" fmla="val 31333"/>
              </a:avLst>
            </a:prstGeom>
            <a:solidFill>
              <a:srgbClr val="E11F1C">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Step 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15 minutes</a:t>
              </a:r>
            </a:p>
          </p:txBody>
        </p:sp>
        <p:sp>
          <p:nvSpPr>
            <p:cNvPr id="14" name="Arrow: Pentagon 13">
              <a:extLst>
                <a:ext uri="{FF2B5EF4-FFF2-40B4-BE49-F238E27FC236}">
                  <a16:creationId xmlns:a16="http://schemas.microsoft.com/office/drawing/2014/main" id="{E2A83E6D-E7E0-DE5C-F493-922DAA8C4957}"/>
                </a:ext>
              </a:extLst>
            </p:cNvPr>
            <p:cNvSpPr/>
            <p:nvPr/>
          </p:nvSpPr>
          <p:spPr>
            <a:xfrm>
              <a:off x="5691382" y="1987244"/>
              <a:ext cx="2235551" cy="1820708"/>
            </a:xfrm>
            <a:prstGeom prst="homePlate">
              <a:avLst>
                <a:gd name="adj" fmla="val 30444"/>
              </a:avLst>
            </a:prstGeom>
            <a:solidFill>
              <a:srgbClr val="E11F1C">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Step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15 minutes</a:t>
              </a:r>
            </a:p>
          </p:txBody>
        </p:sp>
        <p:sp>
          <p:nvSpPr>
            <p:cNvPr id="13" name="Arrow: Pentagon 12">
              <a:extLst>
                <a:ext uri="{FF2B5EF4-FFF2-40B4-BE49-F238E27FC236}">
                  <a16:creationId xmlns:a16="http://schemas.microsoft.com/office/drawing/2014/main" id="{FBF50C70-2164-E088-C6B5-3DA72B18004B}"/>
                </a:ext>
              </a:extLst>
            </p:cNvPr>
            <p:cNvSpPr/>
            <p:nvPr/>
          </p:nvSpPr>
          <p:spPr>
            <a:xfrm>
              <a:off x="3896037" y="1987244"/>
              <a:ext cx="2235551" cy="1820708"/>
            </a:xfrm>
            <a:prstGeom prst="homePlate">
              <a:avLst>
                <a:gd name="adj" fmla="val 29111"/>
              </a:avLst>
            </a:prstGeom>
            <a:solidFill>
              <a:srgbClr val="E11F1C">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Step 3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15 minutes</a:t>
              </a:r>
            </a:p>
          </p:txBody>
        </p:sp>
        <p:sp>
          <p:nvSpPr>
            <p:cNvPr id="12" name="Arrow: Pentagon 11">
              <a:extLst>
                <a:ext uri="{FF2B5EF4-FFF2-40B4-BE49-F238E27FC236}">
                  <a16:creationId xmlns:a16="http://schemas.microsoft.com/office/drawing/2014/main" id="{459C5D48-78BE-3A75-2822-CDAF84A171AD}"/>
                </a:ext>
              </a:extLst>
            </p:cNvPr>
            <p:cNvSpPr/>
            <p:nvPr/>
          </p:nvSpPr>
          <p:spPr>
            <a:xfrm>
              <a:off x="2165428" y="1987244"/>
              <a:ext cx="2235551" cy="1820708"/>
            </a:xfrm>
            <a:prstGeom prst="homePlate">
              <a:avLst>
                <a:gd name="adj" fmla="val 38889"/>
              </a:avLst>
            </a:prstGeom>
            <a:solidFill>
              <a:srgbClr val="E11F1C">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Step 2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15 minutes</a:t>
              </a:r>
            </a:p>
          </p:txBody>
        </p:sp>
        <p:sp>
          <p:nvSpPr>
            <p:cNvPr id="5" name="Arrow: Pentagon 4">
              <a:extLst>
                <a:ext uri="{FF2B5EF4-FFF2-40B4-BE49-F238E27FC236}">
                  <a16:creationId xmlns:a16="http://schemas.microsoft.com/office/drawing/2014/main" id="{1A526B0D-2205-8FEB-C0B9-9AAC042C25C2}"/>
                </a:ext>
              </a:extLst>
            </p:cNvPr>
            <p:cNvSpPr/>
            <p:nvPr/>
          </p:nvSpPr>
          <p:spPr>
            <a:xfrm>
              <a:off x="575382" y="1987244"/>
              <a:ext cx="1997884" cy="1820708"/>
            </a:xfrm>
            <a:prstGeom prst="homePlate">
              <a:avLst>
                <a:gd name="adj" fmla="val 29110"/>
              </a:avLst>
            </a:prstGeom>
            <a:solidFill>
              <a:srgbClr val="E11F1C">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Step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00" cap="none" spc="0" normalizeH="0" baseline="0" noProof="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15 minutes</a:t>
              </a:r>
            </a:p>
          </p:txBody>
        </p:sp>
      </p:grpSp>
      <p:sp>
        <p:nvSpPr>
          <p:cNvPr id="18" name="Rectangle 17">
            <a:extLst>
              <a:ext uri="{FF2B5EF4-FFF2-40B4-BE49-F238E27FC236}">
                <a16:creationId xmlns:a16="http://schemas.microsoft.com/office/drawing/2014/main" id="{BD67500F-0F90-4A8F-8EED-EDE540793484}"/>
              </a:ext>
            </a:extLst>
          </p:cNvPr>
          <p:cNvSpPr/>
          <p:nvPr/>
        </p:nvSpPr>
        <p:spPr>
          <a:xfrm>
            <a:off x="2165428" y="4033198"/>
            <a:ext cx="1730609" cy="903964"/>
          </a:xfrm>
          <a:prstGeom prst="rect">
            <a:avLst/>
          </a:prstGeom>
          <a:solidFill>
            <a:srgbClr val="F6BFBC">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4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Enhancing Cognition with Visual Aids</a:t>
            </a:r>
            <a:endParaRPr kumimoji="0" lang="en-GB" sz="13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18027FD-6A88-8D4B-87AE-4EAC3642AD4F}"/>
              </a:ext>
            </a:extLst>
          </p:cNvPr>
          <p:cNvSpPr/>
          <p:nvPr/>
        </p:nvSpPr>
        <p:spPr>
          <a:xfrm>
            <a:off x="3896037" y="4033198"/>
            <a:ext cx="1795345" cy="903964"/>
          </a:xfrm>
          <a:prstGeom prst="rect">
            <a:avLst/>
          </a:prstGeom>
          <a:solidFill>
            <a:srgbClr val="F6BFBC">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4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Accessibility Considerations</a:t>
            </a:r>
            <a:endParaRPr kumimoji="0" lang="en-GB" sz="13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4BF051CC-4C78-FF45-D937-4E56419ACB52}"/>
              </a:ext>
            </a:extLst>
          </p:cNvPr>
          <p:cNvSpPr/>
          <p:nvPr/>
        </p:nvSpPr>
        <p:spPr>
          <a:xfrm>
            <a:off x="7486727" y="4033198"/>
            <a:ext cx="1795345" cy="903964"/>
          </a:xfrm>
          <a:prstGeom prst="rect">
            <a:avLst/>
          </a:prstGeom>
          <a:solidFill>
            <a:srgbClr val="F6BFB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4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Legal and Ethical Compliance</a:t>
            </a:r>
            <a:endParaRPr kumimoji="0" lang="en-GB" sz="13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2D3A6764-79DE-1075-B53A-D312A95E3A53}"/>
              </a:ext>
            </a:extLst>
          </p:cNvPr>
          <p:cNvSpPr/>
          <p:nvPr/>
        </p:nvSpPr>
        <p:spPr>
          <a:xfrm>
            <a:off x="5691382" y="4033198"/>
            <a:ext cx="1795345" cy="903964"/>
          </a:xfrm>
          <a:prstGeom prst="rect">
            <a:avLst/>
          </a:prstGeom>
          <a:solidFill>
            <a:srgbClr val="F6BFBC">
              <a:alpha val="5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4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Applying Norman's Design Principles </a:t>
            </a:r>
            <a:endParaRPr kumimoji="0" lang="en-GB" sz="13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24270360-3C76-B64D-69DE-B76DF2D28EF2}"/>
              </a:ext>
            </a:extLst>
          </p:cNvPr>
          <p:cNvSpPr/>
          <p:nvPr/>
        </p:nvSpPr>
        <p:spPr>
          <a:xfrm>
            <a:off x="9282072" y="4033198"/>
            <a:ext cx="1868753" cy="903964"/>
          </a:xfrm>
          <a:prstGeom prst="rect">
            <a:avLst/>
          </a:prstGeom>
          <a:solidFill>
            <a:srgbClr val="F6BFB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4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Usability testing, reflection, and feedback</a:t>
            </a:r>
            <a:endParaRPr kumimoji="0" lang="en-GB" sz="1300" b="0" i="0" u="none" strike="noStrike" kern="100" cap="none" spc="0" normalizeH="0" baseline="0" noProof="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420741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F5A4-2FFC-6AFA-7699-876312B6045F}"/>
              </a:ext>
            </a:extLst>
          </p:cNvPr>
          <p:cNvSpPr>
            <a:spLocks noGrp="1"/>
          </p:cNvSpPr>
          <p:nvPr>
            <p:ph type="title"/>
          </p:nvPr>
        </p:nvSpPr>
        <p:spPr>
          <a:xfrm>
            <a:off x="3296220" y="291472"/>
            <a:ext cx="8607406" cy="759600"/>
          </a:xfrm>
        </p:spPr>
        <p:txBody>
          <a:bodyPr>
            <a:noAutofit/>
          </a:bodyPr>
          <a:lstStyle/>
          <a:p>
            <a:r>
              <a:rPr lang="en-GB" sz="2900" kern="100">
                <a:effectLst/>
                <a:ea typeface="Aptos" panose="020B0004020202020204" pitchFamily="34" charset="0"/>
              </a:rPr>
              <a:t>Step 1: Group Discussion on Visual Perception Design Elements (</a:t>
            </a:r>
            <a:r>
              <a:rPr lang="en-GB" sz="2900" kern="100">
                <a:ea typeface="Aptos" panose="020B0004020202020204" pitchFamily="34" charset="0"/>
              </a:rPr>
              <a:t>15</a:t>
            </a:r>
            <a:r>
              <a:rPr lang="en-GB" sz="2900" kern="100">
                <a:effectLst/>
                <a:ea typeface="Aptos" panose="020B0004020202020204" pitchFamily="34" charset="0"/>
              </a:rPr>
              <a:t> minutes)</a:t>
            </a:r>
            <a:endParaRPr lang="en-GB" sz="2900"/>
          </a:p>
        </p:txBody>
      </p:sp>
      <p:sp>
        <p:nvSpPr>
          <p:cNvPr id="3" name="Content Placeholder 2">
            <a:extLst>
              <a:ext uri="{FF2B5EF4-FFF2-40B4-BE49-F238E27FC236}">
                <a16:creationId xmlns:a16="http://schemas.microsoft.com/office/drawing/2014/main" id="{375B83C0-92EA-E2FD-4228-E3AB70BDE753}"/>
              </a:ext>
            </a:extLst>
          </p:cNvPr>
          <p:cNvSpPr>
            <a:spLocks noGrp="1"/>
          </p:cNvSpPr>
          <p:nvPr>
            <p:ph idx="1"/>
          </p:nvPr>
        </p:nvSpPr>
        <p:spPr/>
        <p:txBody>
          <a:bodyPr lIns="91440" tIns="45720" rIns="91440" bIns="45720" anchor="t">
            <a:normAutofit/>
          </a:bodyPr>
          <a:lstStyle/>
          <a:p>
            <a:pPr marL="0" indent="0">
              <a:lnSpc>
                <a:spcPct val="107000"/>
              </a:lnSpc>
              <a:spcAft>
                <a:spcPts val="800"/>
              </a:spcAft>
              <a:buNone/>
            </a:pPr>
            <a:r>
              <a:rPr lang="en-GB" sz="1800" b="1" kern="100">
                <a:effectLst/>
                <a:latin typeface="Arial"/>
                <a:ea typeface="Aptos" panose="020B0004020202020204" pitchFamily="34" charset="0"/>
                <a:cs typeface="Arial"/>
              </a:rPr>
              <a:t>Task</a:t>
            </a:r>
            <a:r>
              <a:rPr lang="en-GB" sz="1800" kern="100">
                <a:effectLst/>
                <a:latin typeface="Arial"/>
                <a:ea typeface="Aptos" panose="020B0004020202020204" pitchFamily="34" charset="0"/>
                <a:cs typeface="Arial"/>
              </a:rPr>
              <a:t>: Discuss the importance of visual perception design elements in design.</a:t>
            </a:r>
          </a:p>
          <a:p>
            <a:pPr marL="0" indent="0">
              <a:lnSpc>
                <a:spcPct val="107000"/>
              </a:lnSpc>
              <a:spcAft>
                <a:spcPts val="800"/>
              </a:spcAft>
              <a:buNone/>
            </a:pPr>
            <a:r>
              <a:rPr lang="en-GB" sz="1800" b="1" kern="100">
                <a:effectLst/>
                <a:latin typeface="Arial"/>
                <a:ea typeface="Aptos" panose="020B0004020202020204" pitchFamily="34" charset="0"/>
                <a:cs typeface="Arial"/>
              </a:rPr>
              <a:t>Focus on:</a:t>
            </a:r>
          </a:p>
          <a:p>
            <a:pPr lvl="1">
              <a:lnSpc>
                <a:spcPct val="107000"/>
              </a:lnSpc>
              <a:spcAft>
                <a:spcPts val="800"/>
              </a:spcAft>
            </a:pPr>
            <a:r>
              <a:rPr lang="en-GB" sz="1800" b="1" kern="100">
                <a:effectLst/>
                <a:latin typeface="Arial"/>
                <a:ea typeface="Aptos" panose="020B0004020202020204" pitchFamily="34" charset="0"/>
                <a:cs typeface="Arial"/>
              </a:rPr>
              <a:t>Colour</a:t>
            </a:r>
            <a:r>
              <a:rPr lang="en-GB" sz="1800" kern="100">
                <a:effectLst/>
                <a:latin typeface="Arial"/>
                <a:ea typeface="Aptos" panose="020B0004020202020204" pitchFamily="34" charset="0"/>
                <a:cs typeface="Arial"/>
              </a:rPr>
              <a:t>:</a:t>
            </a:r>
            <a:r>
              <a:rPr lang="en-GB" sz="1600" kern="100">
                <a:effectLst/>
                <a:latin typeface="Arial"/>
                <a:ea typeface="Aptos" panose="020B0004020202020204" pitchFamily="34" charset="0"/>
                <a:cs typeface="Arial"/>
              </a:rPr>
              <a:t> Use a consistent colour palette to guide attention and create visual harmony.</a:t>
            </a:r>
          </a:p>
          <a:p>
            <a:pPr lvl="1">
              <a:lnSpc>
                <a:spcPct val="107000"/>
              </a:lnSpc>
              <a:spcAft>
                <a:spcPts val="800"/>
              </a:spcAft>
            </a:pPr>
            <a:r>
              <a:rPr lang="en-GB" sz="1800" b="1" kern="100">
                <a:effectLst/>
                <a:latin typeface="Arial"/>
                <a:ea typeface="Aptos" panose="020B0004020202020204" pitchFamily="34" charset="0"/>
                <a:cs typeface="Arial"/>
              </a:rPr>
              <a:t>Spacing</a:t>
            </a:r>
            <a:r>
              <a:rPr lang="en-GB" sz="1800" kern="100">
                <a:effectLst/>
                <a:latin typeface="Arial"/>
                <a:ea typeface="Aptos" panose="020B0004020202020204" pitchFamily="34" charset="0"/>
                <a:cs typeface="Arial"/>
              </a:rPr>
              <a:t>: Ensure ample white space to reduce clutter and enhance readability.</a:t>
            </a:r>
          </a:p>
          <a:p>
            <a:pPr lvl="1">
              <a:lnSpc>
                <a:spcPct val="107000"/>
              </a:lnSpc>
              <a:spcAft>
                <a:spcPts val="800"/>
              </a:spcAft>
            </a:pPr>
            <a:r>
              <a:rPr lang="en-GB" sz="1800" b="1" kern="100">
                <a:effectLst/>
                <a:latin typeface="Arial"/>
                <a:ea typeface="Aptos" panose="020B0004020202020204" pitchFamily="34" charset="0"/>
                <a:cs typeface="Arial"/>
              </a:rPr>
              <a:t>Contrast</a:t>
            </a:r>
            <a:r>
              <a:rPr lang="en-GB" sz="1800" kern="100">
                <a:effectLst/>
                <a:latin typeface="Arial"/>
                <a:ea typeface="Aptos" panose="020B0004020202020204" pitchFamily="34" charset="0"/>
                <a:cs typeface="Arial"/>
              </a:rPr>
              <a:t>: High contrast between text and background for readability, especially for neurodiverse users.</a:t>
            </a:r>
          </a:p>
          <a:p>
            <a:pPr lvl="1">
              <a:lnSpc>
                <a:spcPct val="107000"/>
              </a:lnSpc>
              <a:spcAft>
                <a:spcPts val="800"/>
              </a:spcAft>
            </a:pPr>
            <a:r>
              <a:rPr lang="en-GB" sz="1800" b="1" kern="100">
                <a:effectLst/>
                <a:latin typeface="Arial"/>
                <a:ea typeface="Aptos" panose="020B0004020202020204" pitchFamily="34" charset="0"/>
                <a:cs typeface="Arial"/>
              </a:rPr>
              <a:t>Typography</a:t>
            </a:r>
            <a:r>
              <a:rPr lang="en-GB" sz="1800" kern="100">
                <a:effectLst/>
                <a:latin typeface="Arial"/>
                <a:ea typeface="Aptos" panose="020B0004020202020204" pitchFamily="34" charset="0"/>
                <a:cs typeface="Arial"/>
              </a:rPr>
              <a:t>: Use legible fonts and appropriate sizes to cater to all users, including those with visual impairments.</a:t>
            </a:r>
          </a:p>
          <a:p>
            <a:pPr marL="0" indent="0">
              <a:lnSpc>
                <a:spcPct val="107000"/>
              </a:lnSpc>
              <a:spcAft>
                <a:spcPts val="800"/>
              </a:spcAft>
              <a:buNone/>
            </a:pPr>
            <a:endParaRPr lang="en-GB" sz="1800" b="1" kern="100">
              <a:effectLst/>
              <a:ea typeface="Aptos" panose="020B0004020202020204" pitchFamily="34" charset="0"/>
            </a:endParaRPr>
          </a:p>
          <a:p>
            <a:pPr marL="0" indent="0">
              <a:lnSpc>
                <a:spcPct val="107000"/>
              </a:lnSpc>
              <a:spcAft>
                <a:spcPts val="800"/>
              </a:spcAft>
              <a:buNone/>
            </a:pPr>
            <a:r>
              <a:rPr lang="en-GB" sz="1800" b="1" kern="100">
                <a:effectLst/>
                <a:latin typeface="Arial"/>
                <a:ea typeface="Aptos" panose="020B0004020202020204" pitchFamily="34" charset="0"/>
                <a:cs typeface="Arial"/>
              </a:rPr>
              <a:t>Deliverable</a:t>
            </a:r>
            <a:r>
              <a:rPr lang="en-GB" sz="1800" kern="100">
                <a:effectLst/>
                <a:latin typeface="Arial"/>
                <a:ea typeface="Aptos" panose="020B0004020202020204" pitchFamily="34" charset="0"/>
                <a:cs typeface="Arial"/>
              </a:rPr>
              <a:t>: Document your design choices for the learning app visual perception.</a:t>
            </a:r>
          </a:p>
          <a:p>
            <a:endParaRPr lang="en-GB"/>
          </a:p>
        </p:txBody>
      </p:sp>
    </p:spTree>
    <p:extLst>
      <p:ext uri="{BB962C8B-B14F-4D97-AF65-F5344CB8AC3E}">
        <p14:creationId xmlns:p14="http://schemas.microsoft.com/office/powerpoint/2010/main" val="74622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F5A4-2FFC-6AFA-7699-876312B6045F}"/>
              </a:ext>
            </a:extLst>
          </p:cNvPr>
          <p:cNvSpPr>
            <a:spLocks noGrp="1"/>
          </p:cNvSpPr>
          <p:nvPr>
            <p:ph type="title"/>
          </p:nvPr>
        </p:nvSpPr>
        <p:spPr>
          <a:xfrm>
            <a:off x="3296220" y="315748"/>
            <a:ext cx="8607406" cy="759600"/>
          </a:xfrm>
        </p:spPr>
        <p:txBody>
          <a:bodyPr>
            <a:noAutofit/>
          </a:bodyPr>
          <a:lstStyle/>
          <a:p>
            <a:r>
              <a:rPr lang="en-GB" sz="2900" kern="100">
                <a:effectLst/>
                <a:ea typeface="Aptos" panose="020B0004020202020204" pitchFamily="34" charset="0"/>
              </a:rPr>
              <a:t>Step 2: </a:t>
            </a:r>
            <a:r>
              <a:rPr lang="en-GB" sz="2900">
                <a:effectLst/>
                <a:ea typeface="Aptos" panose="020B0004020202020204" pitchFamily="34" charset="0"/>
              </a:rPr>
              <a:t>Enhancing Cognition with Visual Aids (15 minutes)</a:t>
            </a:r>
            <a:endParaRPr lang="en-GB" sz="2900"/>
          </a:p>
        </p:txBody>
      </p:sp>
      <p:sp>
        <p:nvSpPr>
          <p:cNvPr id="3" name="Content Placeholder 2">
            <a:extLst>
              <a:ext uri="{FF2B5EF4-FFF2-40B4-BE49-F238E27FC236}">
                <a16:creationId xmlns:a16="http://schemas.microsoft.com/office/drawing/2014/main" id="{375B83C0-92EA-E2FD-4228-E3AB70BDE753}"/>
              </a:ext>
            </a:extLst>
          </p:cNvPr>
          <p:cNvSpPr>
            <a:spLocks noGrp="1"/>
          </p:cNvSpPr>
          <p:nvPr>
            <p:ph idx="1"/>
          </p:nvPr>
        </p:nvSpPr>
        <p:spPr>
          <a:xfrm>
            <a:off x="478800" y="1249200"/>
            <a:ext cx="10875600" cy="5446800"/>
          </a:xfrm>
        </p:spPr>
        <p:txBody>
          <a:bodyPr>
            <a:normAutofit/>
          </a:bodyPr>
          <a:lstStyle/>
          <a:p>
            <a:pPr marL="0" indent="0">
              <a:lnSpc>
                <a:spcPct val="107000"/>
              </a:lnSpc>
              <a:spcAft>
                <a:spcPts val="800"/>
              </a:spcAft>
              <a:buNone/>
            </a:pPr>
            <a:r>
              <a:rPr lang="en-GB" sz="2000" b="1" kern="100">
                <a:effectLst/>
                <a:ea typeface="Aptos" panose="020B0004020202020204" pitchFamily="34" charset="0"/>
              </a:rPr>
              <a:t>Task</a:t>
            </a:r>
            <a:r>
              <a:rPr lang="en-GB" sz="2000" kern="100">
                <a:effectLst/>
                <a:ea typeface="Aptos" panose="020B0004020202020204" pitchFamily="34" charset="0"/>
              </a:rPr>
              <a:t>: Discuss on and decide what visual aids and interactive activities you can use to improve learner cognition.</a:t>
            </a:r>
          </a:p>
          <a:p>
            <a:pPr marL="0" indent="0">
              <a:lnSpc>
                <a:spcPct val="107000"/>
              </a:lnSpc>
              <a:spcAft>
                <a:spcPts val="800"/>
              </a:spcAft>
              <a:buNone/>
            </a:pPr>
            <a:r>
              <a:rPr lang="en-GB" sz="2000" b="1" kern="100">
                <a:effectLst/>
                <a:ea typeface="Aptos" panose="020B0004020202020204" pitchFamily="34" charset="0"/>
              </a:rPr>
              <a:t>Focus on:</a:t>
            </a:r>
          </a:p>
          <a:p>
            <a:pPr lvl="1">
              <a:lnSpc>
                <a:spcPct val="107000"/>
              </a:lnSpc>
              <a:spcAft>
                <a:spcPts val="800"/>
              </a:spcAft>
            </a:pPr>
            <a:r>
              <a:rPr lang="en-GB" sz="2000" b="1" kern="100">
                <a:effectLst/>
                <a:ea typeface="Aptos" panose="020B0004020202020204" pitchFamily="34" charset="0"/>
              </a:rPr>
              <a:t>Interactive Quizzes</a:t>
            </a:r>
            <a:r>
              <a:rPr lang="en-GB" sz="2000" kern="100">
                <a:effectLst/>
                <a:ea typeface="Aptos" panose="020B0004020202020204" pitchFamily="34" charset="0"/>
              </a:rPr>
              <a:t>: Reinforce concepts through immediate feedback.</a:t>
            </a:r>
          </a:p>
          <a:p>
            <a:pPr lvl="1">
              <a:lnSpc>
                <a:spcPct val="107000"/>
              </a:lnSpc>
              <a:spcAft>
                <a:spcPts val="800"/>
              </a:spcAft>
            </a:pPr>
            <a:r>
              <a:rPr lang="en-GB" sz="2000" b="1" kern="100">
                <a:effectLst/>
                <a:ea typeface="Aptos" panose="020B0004020202020204" pitchFamily="34" charset="0"/>
              </a:rPr>
              <a:t>Diagrams and Infographics</a:t>
            </a:r>
            <a:r>
              <a:rPr lang="en-GB" sz="2000" kern="100">
                <a:effectLst/>
                <a:ea typeface="Aptos" panose="020B0004020202020204" pitchFamily="34" charset="0"/>
              </a:rPr>
              <a:t>: Simplify complex information.</a:t>
            </a:r>
          </a:p>
          <a:p>
            <a:pPr lvl="1">
              <a:lnSpc>
                <a:spcPct val="107000"/>
              </a:lnSpc>
              <a:spcAft>
                <a:spcPts val="800"/>
              </a:spcAft>
            </a:pPr>
            <a:r>
              <a:rPr lang="en-GB" sz="2000" b="1" kern="100">
                <a:effectLst/>
                <a:ea typeface="Aptos" panose="020B0004020202020204" pitchFamily="34" charset="0"/>
              </a:rPr>
              <a:t>Step-by-Step Guides</a:t>
            </a:r>
            <a:r>
              <a:rPr lang="en-GB" sz="2000" kern="100">
                <a:effectLst/>
                <a:ea typeface="Aptos" panose="020B0004020202020204" pitchFamily="34" charset="0"/>
              </a:rPr>
              <a:t>: Help students follow along easily.</a:t>
            </a:r>
          </a:p>
          <a:p>
            <a:pPr lvl="1">
              <a:lnSpc>
                <a:spcPct val="107000"/>
              </a:lnSpc>
              <a:spcAft>
                <a:spcPts val="800"/>
              </a:spcAft>
            </a:pPr>
            <a:endParaRPr lang="en-GB" sz="2000" b="1" kern="100">
              <a:ea typeface="Aptos" panose="020B0004020202020204" pitchFamily="34" charset="0"/>
            </a:endParaRPr>
          </a:p>
          <a:p>
            <a:pPr marL="0" indent="0">
              <a:lnSpc>
                <a:spcPct val="107000"/>
              </a:lnSpc>
              <a:spcAft>
                <a:spcPts val="800"/>
              </a:spcAft>
              <a:buNone/>
            </a:pPr>
            <a:r>
              <a:rPr lang="en-GB" sz="2000" b="1" kern="100">
                <a:effectLst/>
                <a:ea typeface="Aptos" panose="020B0004020202020204" pitchFamily="34" charset="0"/>
              </a:rPr>
              <a:t>Deliverable</a:t>
            </a:r>
            <a:r>
              <a:rPr lang="en-GB" sz="2000" kern="100">
                <a:effectLst/>
                <a:ea typeface="Aptos" panose="020B0004020202020204" pitchFamily="34" charset="0"/>
              </a:rPr>
              <a:t>: Document a </a:t>
            </a:r>
            <a:r>
              <a:rPr lang="en-GB" sz="2000" kern="100">
                <a:ea typeface="Aptos" panose="020B0004020202020204" pitchFamily="34" charset="0"/>
              </a:rPr>
              <a:t>d</a:t>
            </a:r>
            <a:r>
              <a:rPr lang="en-GB" sz="2000">
                <a:effectLst/>
                <a:ea typeface="Aptos" panose="020B0004020202020204" pitchFamily="34" charset="0"/>
              </a:rPr>
              <a:t>etailed plan of cognitive aids to be used in the lesson.</a:t>
            </a:r>
            <a:endParaRPr lang="en-GB" sz="2000" kern="100">
              <a:effectLst/>
              <a:ea typeface="Aptos" panose="020B0004020202020204" pitchFamily="34" charset="0"/>
            </a:endParaRPr>
          </a:p>
        </p:txBody>
      </p:sp>
    </p:spTree>
    <p:extLst>
      <p:ext uri="{BB962C8B-B14F-4D97-AF65-F5344CB8AC3E}">
        <p14:creationId xmlns:p14="http://schemas.microsoft.com/office/powerpoint/2010/main" val="2545472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F5A4-2FFC-6AFA-7699-876312B6045F}"/>
              </a:ext>
            </a:extLst>
          </p:cNvPr>
          <p:cNvSpPr>
            <a:spLocks noGrp="1"/>
          </p:cNvSpPr>
          <p:nvPr>
            <p:ph type="title"/>
          </p:nvPr>
        </p:nvSpPr>
        <p:spPr/>
        <p:txBody>
          <a:bodyPr>
            <a:normAutofit fontScale="90000"/>
          </a:bodyPr>
          <a:lstStyle/>
          <a:p>
            <a:r>
              <a:rPr lang="en-GB" sz="2900" kern="100">
                <a:effectLst/>
                <a:ea typeface="Aptos" panose="020B0004020202020204" pitchFamily="34" charset="0"/>
              </a:rPr>
              <a:t>Step 3: Accessibility Considerations (15 minutes)</a:t>
            </a:r>
            <a:endParaRPr lang="en-GB" sz="2900"/>
          </a:p>
        </p:txBody>
      </p:sp>
      <p:sp>
        <p:nvSpPr>
          <p:cNvPr id="3" name="Content Placeholder 2">
            <a:extLst>
              <a:ext uri="{FF2B5EF4-FFF2-40B4-BE49-F238E27FC236}">
                <a16:creationId xmlns:a16="http://schemas.microsoft.com/office/drawing/2014/main" id="{375B83C0-92EA-E2FD-4228-E3AB70BDE753}"/>
              </a:ext>
            </a:extLst>
          </p:cNvPr>
          <p:cNvSpPr>
            <a:spLocks noGrp="1"/>
          </p:cNvSpPr>
          <p:nvPr>
            <p:ph idx="1"/>
          </p:nvPr>
        </p:nvSpPr>
        <p:spPr>
          <a:xfrm>
            <a:off x="478800" y="1249200"/>
            <a:ext cx="10875600" cy="5016133"/>
          </a:xfrm>
        </p:spPr>
        <p:txBody>
          <a:bodyPr>
            <a:normAutofit/>
          </a:bodyPr>
          <a:lstStyle/>
          <a:p>
            <a:pPr marL="0" indent="0">
              <a:lnSpc>
                <a:spcPct val="107000"/>
              </a:lnSpc>
              <a:spcAft>
                <a:spcPts val="800"/>
              </a:spcAft>
              <a:buNone/>
            </a:pPr>
            <a:r>
              <a:rPr lang="en-GB" sz="2000" b="1" kern="100">
                <a:effectLst/>
                <a:ea typeface="Aptos" panose="020B0004020202020204" pitchFamily="34" charset="0"/>
              </a:rPr>
              <a:t>Task</a:t>
            </a:r>
            <a:r>
              <a:rPr lang="en-GB" sz="2000" kern="100">
                <a:effectLst/>
                <a:ea typeface="Aptos" panose="020B0004020202020204" pitchFamily="34" charset="0"/>
              </a:rPr>
              <a:t>: Discuss and identify accessibility features to ensure the app is inclusive.</a:t>
            </a:r>
          </a:p>
          <a:p>
            <a:pPr marL="0" indent="0">
              <a:lnSpc>
                <a:spcPct val="107000"/>
              </a:lnSpc>
              <a:spcAft>
                <a:spcPts val="800"/>
              </a:spcAft>
              <a:buNone/>
            </a:pPr>
            <a:r>
              <a:rPr lang="en-GB" sz="2000" b="1" kern="100">
                <a:effectLst/>
                <a:ea typeface="Aptos" panose="020B0004020202020204" pitchFamily="34" charset="0"/>
              </a:rPr>
              <a:t>Focus on:</a:t>
            </a:r>
          </a:p>
          <a:p>
            <a:pPr lvl="1">
              <a:lnSpc>
                <a:spcPct val="107000"/>
              </a:lnSpc>
              <a:spcAft>
                <a:spcPts val="800"/>
              </a:spcAft>
            </a:pPr>
            <a:r>
              <a:rPr lang="en-GB" sz="2000" b="1" kern="100">
                <a:effectLst/>
                <a:ea typeface="Aptos" panose="020B0004020202020204" pitchFamily="34" charset="0"/>
              </a:rPr>
              <a:t>Adjustable Font Sizes</a:t>
            </a:r>
            <a:r>
              <a:rPr lang="en-GB" sz="2000" kern="100">
                <a:effectLst/>
                <a:ea typeface="Aptos" panose="020B0004020202020204" pitchFamily="34" charset="0"/>
              </a:rPr>
              <a:t>: Cater to users with visual impairments.</a:t>
            </a:r>
          </a:p>
          <a:p>
            <a:pPr lvl="1">
              <a:lnSpc>
                <a:spcPct val="107000"/>
              </a:lnSpc>
              <a:spcAft>
                <a:spcPts val="800"/>
              </a:spcAft>
            </a:pPr>
            <a:r>
              <a:rPr lang="en-GB" sz="2000" b="1" kern="100">
                <a:effectLst/>
                <a:ea typeface="Aptos" panose="020B0004020202020204" pitchFamily="34" charset="0"/>
              </a:rPr>
              <a:t>Screen Reader Compatibility</a:t>
            </a:r>
            <a:r>
              <a:rPr lang="en-GB" sz="2000" kern="100">
                <a:effectLst/>
                <a:ea typeface="Aptos" panose="020B0004020202020204" pitchFamily="34" charset="0"/>
              </a:rPr>
              <a:t>: Ensure all content is accessible via screen readers.</a:t>
            </a:r>
          </a:p>
          <a:p>
            <a:pPr lvl="1">
              <a:lnSpc>
                <a:spcPct val="107000"/>
              </a:lnSpc>
              <a:spcAft>
                <a:spcPts val="800"/>
              </a:spcAft>
            </a:pPr>
            <a:r>
              <a:rPr lang="en-GB" sz="2000" b="1" kern="100">
                <a:effectLst/>
                <a:ea typeface="Aptos" panose="020B0004020202020204" pitchFamily="34" charset="0"/>
              </a:rPr>
              <a:t>Keyboard Navigation</a:t>
            </a:r>
            <a:r>
              <a:rPr lang="en-GB" sz="2000" kern="100">
                <a:effectLst/>
                <a:ea typeface="Aptos" panose="020B0004020202020204" pitchFamily="34" charset="0"/>
              </a:rPr>
              <a:t>: Make sure the app is navigable without a mouse.</a:t>
            </a:r>
          </a:p>
          <a:p>
            <a:pPr marL="0" indent="0">
              <a:lnSpc>
                <a:spcPct val="107000"/>
              </a:lnSpc>
              <a:spcAft>
                <a:spcPts val="800"/>
              </a:spcAft>
              <a:buNone/>
            </a:pPr>
            <a:endParaRPr lang="en-GB" sz="2000" b="1" kern="100">
              <a:effectLst/>
              <a:ea typeface="Aptos" panose="020B0004020202020204" pitchFamily="34" charset="0"/>
            </a:endParaRPr>
          </a:p>
          <a:p>
            <a:pPr marL="0" indent="0">
              <a:lnSpc>
                <a:spcPct val="107000"/>
              </a:lnSpc>
              <a:spcAft>
                <a:spcPts val="800"/>
              </a:spcAft>
              <a:buNone/>
            </a:pPr>
            <a:r>
              <a:rPr lang="en-GB" sz="2000" b="1" kern="100">
                <a:effectLst/>
                <a:ea typeface="Aptos" panose="020B0004020202020204" pitchFamily="34" charset="0"/>
              </a:rPr>
              <a:t>Deliverable</a:t>
            </a:r>
            <a:r>
              <a:rPr lang="en-GB" sz="2000" kern="100">
                <a:effectLst/>
                <a:ea typeface="Aptos" panose="020B0004020202020204" pitchFamily="34" charset="0"/>
              </a:rPr>
              <a:t>: Document the app </a:t>
            </a:r>
            <a:r>
              <a:rPr lang="en-GB" sz="2000" kern="100">
                <a:ea typeface="Aptos" panose="020B0004020202020204" pitchFamily="34" charset="0"/>
              </a:rPr>
              <a:t>a</a:t>
            </a:r>
            <a:r>
              <a:rPr lang="en-GB" sz="2000">
                <a:effectLst/>
                <a:ea typeface="Aptos" panose="020B0004020202020204" pitchFamily="34" charset="0"/>
              </a:rPr>
              <a:t>ccessibility feature list with implementation strategies.</a:t>
            </a:r>
            <a:endParaRPr lang="en-GB" sz="2000" kern="100">
              <a:effectLst/>
              <a:ea typeface="Aptos" panose="020B0004020202020204" pitchFamily="34" charset="0"/>
            </a:endParaRPr>
          </a:p>
        </p:txBody>
      </p:sp>
    </p:spTree>
    <p:extLst>
      <p:ext uri="{BB962C8B-B14F-4D97-AF65-F5344CB8AC3E}">
        <p14:creationId xmlns:p14="http://schemas.microsoft.com/office/powerpoint/2010/main" val="328084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F5A4-2FFC-6AFA-7699-876312B6045F}"/>
              </a:ext>
            </a:extLst>
          </p:cNvPr>
          <p:cNvSpPr>
            <a:spLocks noGrp="1"/>
          </p:cNvSpPr>
          <p:nvPr>
            <p:ph type="title"/>
          </p:nvPr>
        </p:nvSpPr>
        <p:spPr>
          <a:xfrm>
            <a:off x="3304312" y="331933"/>
            <a:ext cx="8607406" cy="759600"/>
          </a:xfrm>
        </p:spPr>
        <p:txBody>
          <a:bodyPr>
            <a:noAutofit/>
          </a:bodyPr>
          <a:lstStyle/>
          <a:p>
            <a:r>
              <a:rPr lang="en-GB" sz="2900" kern="100">
                <a:effectLst/>
                <a:ea typeface="Aptos" panose="020B0004020202020204" pitchFamily="34" charset="0"/>
              </a:rPr>
              <a:t>Step 4: </a:t>
            </a:r>
            <a:r>
              <a:rPr lang="en-GB" sz="2900">
                <a:effectLst/>
                <a:ea typeface="Aptos" panose="020B0004020202020204" pitchFamily="34" charset="0"/>
              </a:rPr>
              <a:t>Applying Norman's Design Principles (</a:t>
            </a:r>
            <a:r>
              <a:rPr lang="en-GB" sz="2900">
                <a:ea typeface="Aptos" panose="020B0004020202020204" pitchFamily="34" charset="0"/>
              </a:rPr>
              <a:t>15</a:t>
            </a:r>
            <a:r>
              <a:rPr lang="en-GB" sz="2900">
                <a:effectLst/>
                <a:ea typeface="Aptos" panose="020B0004020202020204" pitchFamily="34" charset="0"/>
              </a:rPr>
              <a:t> minutes)</a:t>
            </a:r>
            <a:endParaRPr lang="en-GB" sz="2900"/>
          </a:p>
        </p:txBody>
      </p:sp>
      <p:sp>
        <p:nvSpPr>
          <p:cNvPr id="3" name="Content Placeholder 2">
            <a:extLst>
              <a:ext uri="{FF2B5EF4-FFF2-40B4-BE49-F238E27FC236}">
                <a16:creationId xmlns:a16="http://schemas.microsoft.com/office/drawing/2014/main" id="{375B83C0-92EA-E2FD-4228-E3AB70BDE753}"/>
              </a:ext>
            </a:extLst>
          </p:cNvPr>
          <p:cNvSpPr>
            <a:spLocks noGrp="1"/>
          </p:cNvSpPr>
          <p:nvPr>
            <p:ph idx="1"/>
          </p:nvPr>
        </p:nvSpPr>
        <p:spPr>
          <a:xfrm>
            <a:off x="478800" y="1249200"/>
            <a:ext cx="10875600" cy="5016133"/>
          </a:xfrm>
        </p:spPr>
        <p:txBody>
          <a:bodyPr>
            <a:normAutofit/>
          </a:bodyPr>
          <a:lstStyle/>
          <a:p>
            <a:pPr marL="0" indent="0" algn="just">
              <a:lnSpc>
                <a:spcPct val="107000"/>
              </a:lnSpc>
              <a:spcAft>
                <a:spcPts val="800"/>
              </a:spcAft>
              <a:buNone/>
            </a:pPr>
            <a:r>
              <a:rPr lang="en-GB" sz="2000" b="1" kern="100">
                <a:effectLst/>
                <a:ea typeface="Aptos" panose="020B0004020202020204" pitchFamily="34" charset="0"/>
              </a:rPr>
              <a:t>Task</a:t>
            </a:r>
            <a:r>
              <a:rPr lang="en-GB" sz="2000" kern="100">
                <a:effectLst/>
                <a:ea typeface="Aptos" panose="020B0004020202020204" pitchFamily="34" charset="0"/>
              </a:rPr>
              <a:t>: </a:t>
            </a:r>
            <a:r>
              <a:rPr lang="en-GB" sz="1800" kern="100">
                <a:effectLst/>
                <a:ea typeface="Aptos" panose="020B0004020202020204" pitchFamily="34" charset="0"/>
              </a:rPr>
              <a:t>Identify and apply Norman’s design principles to your project, deciding on the most relevant ones.</a:t>
            </a:r>
          </a:p>
          <a:p>
            <a:pPr marL="0" indent="0" algn="just">
              <a:lnSpc>
                <a:spcPct val="107000"/>
              </a:lnSpc>
              <a:spcAft>
                <a:spcPts val="800"/>
              </a:spcAft>
              <a:buNone/>
            </a:pPr>
            <a:r>
              <a:rPr lang="en-GB" sz="2000" b="1" kern="100">
                <a:effectLst/>
                <a:ea typeface="Aptos" panose="020B0004020202020204" pitchFamily="34" charset="0"/>
              </a:rPr>
              <a:t>Focus on:</a:t>
            </a:r>
          </a:p>
          <a:p>
            <a:pPr lvl="1" algn="just">
              <a:lnSpc>
                <a:spcPct val="107000"/>
              </a:lnSpc>
              <a:spcAft>
                <a:spcPts val="800"/>
              </a:spcAft>
            </a:pPr>
            <a:r>
              <a:rPr lang="en-GB" sz="1600" b="1" kern="100">
                <a:effectLst/>
                <a:ea typeface="Aptos" panose="020B0004020202020204" pitchFamily="34" charset="0"/>
              </a:rPr>
              <a:t>Feedback</a:t>
            </a:r>
            <a:r>
              <a:rPr lang="en-GB" sz="1600" kern="100">
                <a:effectLst/>
                <a:ea typeface="Aptos" panose="020B0004020202020204" pitchFamily="34" charset="0"/>
              </a:rPr>
              <a:t>: Immediate visual or auditory responses to user actions.</a:t>
            </a:r>
          </a:p>
          <a:p>
            <a:pPr lvl="1" algn="just">
              <a:lnSpc>
                <a:spcPct val="107000"/>
              </a:lnSpc>
              <a:spcAft>
                <a:spcPts val="800"/>
              </a:spcAft>
            </a:pPr>
            <a:r>
              <a:rPr lang="en-GB" sz="1600" kern="100">
                <a:effectLst/>
                <a:ea typeface="Aptos" panose="020B0004020202020204" pitchFamily="34" charset="0"/>
              </a:rPr>
              <a:t> </a:t>
            </a:r>
            <a:r>
              <a:rPr lang="en-GB" sz="1600" b="1" kern="100">
                <a:effectLst/>
                <a:ea typeface="Aptos" panose="020B0004020202020204" pitchFamily="34" charset="0"/>
              </a:rPr>
              <a:t>Affordances</a:t>
            </a:r>
            <a:r>
              <a:rPr lang="en-GB" sz="1600" kern="100">
                <a:effectLst/>
                <a:ea typeface="Aptos" panose="020B0004020202020204" pitchFamily="34" charset="0"/>
              </a:rPr>
              <a:t>: Design elements clearly indicating their function.</a:t>
            </a:r>
          </a:p>
          <a:p>
            <a:pPr lvl="1" algn="just">
              <a:lnSpc>
                <a:spcPct val="107000"/>
              </a:lnSpc>
              <a:spcAft>
                <a:spcPts val="800"/>
              </a:spcAft>
            </a:pPr>
            <a:r>
              <a:rPr lang="en-GB" sz="1600" kern="100">
                <a:effectLst/>
                <a:ea typeface="Aptos" panose="020B0004020202020204" pitchFamily="34" charset="0"/>
              </a:rPr>
              <a:t> </a:t>
            </a:r>
            <a:r>
              <a:rPr lang="en-GB" sz="1600" b="1" kern="100">
                <a:effectLst/>
                <a:ea typeface="Aptos" panose="020B0004020202020204" pitchFamily="34" charset="0"/>
              </a:rPr>
              <a:t>Consistency</a:t>
            </a:r>
            <a:r>
              <a:rPr lang="en-GB" sz="1600" kern="100">
                <a:effectLst/>
                <a:ea typeface="Aptos" panose="020B0004020202020204" pitchFamily="34" charset="0"/>
              </a:rPr>
              <a:t>: Uniform design elements and behaviour across the app.</a:t>
            </a:r>
          </a:p>
          <a:p>
            <a:pPr lvl="1" algn="just">
              <a:lnSpc>
                <a:spcPct val="107000"/>
              </a:lnSpc>
              <a:spcAft>
                <a:spcPts val="800"/>
              </a:spcAft>
            </a:pPr>
            <a:r>
              <a:rPr lang="en-GB" sz="1600" kern="100">
                <a:effectLst/>
                <a:ea typeface="Aptos" panose="020B0004020202020204" pitchFamily="34" charset="0"/>
              </a:rPr>
              <a:t> </a:t>
            </a:r>
            <a:r>
              <a:rPr lang="en-GB" sz="1600" b="1" kern="100">
                <a:effectLst/>
                <a:ea typeface="Aptos" panose="020B0004020202020204" pitchFamily="34" charset="0"/>
              </a:rPr>
              <a:t>Error Prevention and Recovery</a:t>
            </a:r>
            <a:r>
              <a:rPr lang="en-GB" sz="1600" kern="100">
                <a:effectLst/>
                <a:ea typeface="Aptos" panose="020B0004020202020204" pitchFamily="34" charset="0"/>
              </a:rPr>
              <a:t>: Clear instructions and undo options.</a:t>
            </a:r>
          </a:p>
          <a:p>
            <a:pPr lvl="1" algn="just">
              <a:lnSpc>
                <a:spcPct val="107000"/>
              </a:lnSpc>
              <a:spcAft>
                <a:spcPts val="800"/>
              </a:spcAft>
            </a:pPr>
            <a:r>
              <a:rPr lang="en-GB" sz="1600" kern="100">
                <a:effectLst/>
                <a:ea typeface="Aptos" panose="020B0004020202020204" pitchFamily="34" charset="0"/>
              </a:rPr>
              <a:t> </a:t>
            </a:r>
            <a:r>
              <a:rPr lang="en-GB" sz="1600" b="1" kern="100">
                <a:effectLst/>
                <a:ea typeface="Aptos" panose="020B0004020202020204" pitchFamily="34" charset="0"/>
              </a:rPr>
              <a:t>Accessibility</a:t>
            </a:r>
            <a:r>
              <a:rPr lang="en-GB" sz="1600" kern="100">
                <a:effectLst/>
                <a:ea typeface="Aptos" panose="020B0004020202020204" pitchFamily="34" charset="0"/>
              </a:rPr>
              <a:t>: Ensure the app is usable by people with disabilities.</a:t>
            </a:r>
          </a:p>
          <a:p>
            <a:pPr lvl="1" algn="just">
              <a:lnSpc>
                <a:spcPct val="107000"/>
              </a:lnSpc>
              <a:spcAft>
                <a:spcPts val="800"/>
              </a:spcAft>
            </a:pPr>
            <a:r>
              <a:rPr lang="en-GB" sz="1600" kern="100">
                <a:effectLst/>
                <a:ea typeface="Aptos" panose="020B0004020202020204" pitchFamily="34" charset="0"/>
              </a:rPr>
              <a:t> </a:t>
            </a:r>
            <a:r>
              <a:rPr lang="en-GB" sz="1600" b="1" kern="100">
                <a:effectLst/>
                <a:ea typeface="Aptos" panose="020B0004020202020204" pitchFamily="34" charset="0"/>
              </a:rPr>
              <a:t>Deliverable</a:t>
            </a:r>
            <a:r>
              <a:rPr lang="en-GB" sz="1600" kern="100">
                <a:effectLst/>
                <a:ea typeface="Aptos" panose="020B0004020202020204" pitchFamily="34" charset="0"/>
              </a:rPr>
              <a:t>: Presentation on how Norman's principles are applied.</a:t>
            </a:r>
            <a:endParaRPr lang="en-GB" sz="1800" b="1" kern="100">
              <a:ea typeface="Aptos" panose="020B0004020202020204" pitchFamily="34" charset="0"/>
            </a:endParaRPr>
          </a:p>
          <a:p>
            <a:pPr marL="0" indent="0" algn="just">
              <a:lnSpc>
                <a:spcPct val="107000"/>
              </a:lnSpc>
              <a:spcAft>
                <a:spcPts val="800"/>
              </a:spcAft>
              <a:buNone/>
            </a:pPr>
            <a:endParaRPr lang="en-GB" sz="2000" b="1" kern="100">
              <a:effectLst/>
              <a:ea typeface="Aptos" panose="020B0004020202020204" pitchFamily="34" charset="0"/>
            </a:endParaRPr>
          </a:p>
          <a:p>
            <a:pPr marL="0" indent="0" algn="just">
              <a:lnSpc>
                <a:spcPct val="107000"/>
              </a:lnSpc>
              <a:spcAft>
                <a:spcPts val="800"/>
              </a:spcAft>
              <a:buNone/>
            </a:pPr>
            <a:r>
              <a:rPr lang="en-GB" sz="2000" b="1" kern="100">
                <a:effectLst/>
                <a:ea typeface="Aptos" panose="020B0004020202020204" pitchFamily="34" charset="0"/>
              </a:rPr>
              <a:t>Deliverable</a:t>
            </a:r>
            <a:r>
              <a:rPr lang="en-GB" sz="2000" kern="100">
                <a:effectLst/>
                <a:ea typeface="Aptos" panose="020B0004020202020204" pitchFamily="34" charset="0"/>
              </a:rPr>
              <a:t>: </a:t>
            </a:r>
            <a:r>
              <a:rPr lang="en-GB" sz="1800" kern="100">
                <a:effectLst/>
                <a:ea typeface="Aptos" panose="020B0004020202020204" pitchFamily="34" charset="0"/>
              </a:rPr>
              <a:t>Document </a:t>
            </a:r>
            <a:r>
              <a:rPr lang="en-GB" sz="1800">
                <a:effectLst/>
                <a:ea typeface="Aptos" panose="020B0004020202020204" pitchFamily="34" charset="0"/>
              </a:rPr>
              <a:t>how Norman's principles are applied in the app.</a:t>
            </a:r>
            <a:endParaRPr lang="en-GB" sz="1800" kern="100">
              <a:effectLst/>
              <a:ea typeface="Aptos" panose="020B0004020202020204" pitchFamily="34" charset="0"/>
            </a:endParaRPr>
          </a:p>
        </p:txBody>
      </p:sp>
    </p:spTree>
    <p:extLst>
      <p:ext uri="{BB962C8B-B14F-4D97-AF65-F5344CB8AC3E}">
        <p14:creationId xmlns:p14="http://schemas.microsoft.com/office/powerpoint/2010/main" val="236941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5DEC-3679-B18A-901C-9EFE20500222}"/>
              </a:ext>
            </a:extLst>
          </p:cNvPr>
          <p:cNvSpPr>
            <a:spLocks noGrp="1"/>
          </p:cNvSpPr>
          <p:nvPr>
            <p:ph type="title"/>
          </p:nvPr>
        </p:nvSpPr>
        <p:spPr/>
        <p:txBody>
          <a:bodyPr lIns="91440" tIns="45720" rIns="91440" bIns="45720" anchor="b">
            <a:normAutofit/>
          </a:bodyPr>
          <a:lstStyle/>
          <a:p>
            <a:r>
              <a:rPr lang="en-US">
                <a:latin typeface="Arial"/>
                <a:cs typeface="Arial"/>
              </a:rPr>
              <a:t>GDPR and BERA</a:t>
            </a:r>
            <a:endParaRPr lang="en-US"/>
          </a:p>
        </p:txBody>
      </p:sp>
      <p:sp>
        <p:nvSpPr>
          <p:cNvPr id="3" name="Content Placeholder 2">
            <a:extLst>
              <a:ext uri="{FF2B5EF4-FFF2-40B4-BE49-F238E27FC236}">
                <a16:creationId xmlns:a16="http://schemas.microsoft.com/office/drawing/2014/main" id="{11CD3014-0DEE-411C-A93C-0E4CBACE4893}"/>
              </a:ext>
            </a:extLst>
          </p:cNvPr>
          <p:cNvSpPr>
            <a:spLocks noGrp="1"/>
          </p:cNvSpPr>
          <p:nvPr>
            <p:ph idx="1"/>
          </p:nvPr>
        </p:nvSpPr>
        <p:spPr>
          <a:xfrm>
            <a:off x="478800" y="1249200"/>
            <a:ext cx="11421510" cy="5292250"/>
          </a:xfrm>
        </p:spPr>
        <p:txBody>
          <a:bodyPr lIns="91440" tIns="45720" rIns="91440" bIns="45720" anchor="t">
            <a:normAutofit/>
          </a:bodyPr>
          <a:lstStyle/>
          <a:p>
            <a:pPr algn="just"/>
            <a:r>
              <a:rPr lang="en-US" sz="1600" b="1">
                <a:latin typeface="Arial"/>
                <a:cs typeface="Arial"/>
              </a:rPr>
              <a:t>GDPR (General Data Protection Regulation):</a:t>
            </a:r>
            <a:r>
              <a:rPr lang="en-US" sz="1600">
                <a:latin typeface="Arial"/>
                <a:cs typeface="Arial"/>
              </a:rPr>
              <a:t> The General Data Protection Regulation (GDPR) is a comprehensive data protection law enacted by the European Union (EU) in May 2018. It is designed to enhance individuals' control over their personal data and to unify data protection regulations across the EU. GDPR mandates stringent requirements for data processing activities, including obtaining </a:t>
            </a:r>
            <a:r>
              <a:rPr lang="en-US" sz="1600" b="1">
                <a:latin typeface="Arial"/>
                <a:cs typeface="Arial"/>
              </a:rPr>
              <a:t>explicit consent from users, </a:t>
            </a:r>
            <a:r>
              <a:rPr lang="en-US" sz="1600">
                <a:latin typeface="Arial"/>
                <a:cs typeface="Arial"/>
              </a:rPr>
              <a:t>ensuring </a:t>
            </a:r>
            <a:r>
              <a:rPr lang="en-US" sz="1600" b="1">
                <a:latin typeface="Arial"/>
                <a:cs typeface="Arial"/>
              </a:rPr>
              <a:t>data minimization</a:t>
            </a:r>
            <a:r>
              <a:rPr lang="en-US" sz="1600">
                <a:latin typeface="Arial"/>
                <a:cs typeface="Arial"/>
              </a:rPr>
              <a:t>, providing data subjects with </a:t>
            </a:r>
            <a:r>
              <a:rPr lang="en-US" sz="1600" b="1">
                <a:latin typeface="Arial"/>
                <a:cs typeface="Arial"/>
              </a:rPr>
              <a:t>rights to access</a:t>
            </a:r>
            <a:r>
              <a:rPr lang="en-US" sz="1600">
                <a:latin typeface="Arial"/>
                <a:cs typeface="Arial"/>
              </a:rPr>
              <a:t>, </a:t>
            </a:r>
            <a:r>
              <a:rPr lang="en-US" sz="1600" b="1">
                <a:latin typeface="Arial"/>
                <a:cs typeface="Arial"/>
              </a:rPr>
              <a:t>correct</a:t>
            </a:r>
            <a:r>
              <a:rPr lang="en-US" sz="1600">
                <a:latin typeface="Arial"/>
                <a:cs typeface="Arial"/>
              </a:rPr>
              <a:t>, and </a:t>
            </a:r>
            <a:r>
              <a:rPr lang="en-US" sz="1600" b="1">
                <a:latin typeface="Arial"/>
                <a:cs typeface="Arial"/>
              </a:rPr>
              <a:t>delete their data</a:t>
            </a:r>
            <a:r>
              <a:rPr lang="en-US" sz="1600">
                <a:latin typeface="Arial"/>
                <a:cs typeface="Arial"/>
              </a:rPr>
              <a:t>, and implementing robust </a:t>
            </a:r>
            <a:r>
              <a:rPr lang="en-US" sz="1600" b="1">
                <a:latin typeface="Arial"/>
                <a:cs typeface="Arial"/>
              </a:rPr>
              <a:t>security measures </a:t>
            </a:r>
            <a:r>
              <a:rPr lang="en-US" sz="1600">
                <a:latin typeface="Arial"/>
                <a:cs typeface="Arial"/>
              </a:rPr>
              <a:t>to protect data from breaches. </a:t>
            </a:r>
            <a:r>
              <a:rPr lang="en-US" sz="1600">
                <a:solidFill>
                  <a:srgbClr val="FF0000"/>
                </a:solidFill>
                <a:latin typeface="Arial"/>
                <a:cs typeface="Arial"/>
              </a:rPr>
              <a:t>Organizations that fail to comply with GDPR can face significant fines and penalties.</a:t>
            </a:r>
          </a:p>
          <a:p>
            <a:pPr algn="just"/>
            <a:endParaRPr lang="en-US" sz="1600"/>
          </a:p>
          <a:p>
            <a:pPr algn="just"/>
            <a:r>
              <a:rPr lang="en-US" sz="1600" b="1">
                <a:latin typeface="Arial"/>
                <a:cs typeface="Arial"/>
              </a:rPr>
              <a:t>BERA (British Educational Research Association):</a:t>
            </a:r>
            <a:r>
              <a:rPr lang="en-US" sz="1600">
                <a:latin typeface="Arial"/>
                <a:cs typeface="Arial"/>
              </a:rPr>
              <a:t> The British Educational Research Association (BERA) provides ethical guidelines for conducting research in educational settings. BERA emphasizes the importance of </a:t>
            </a:r>
            <a:r>
              <a:rPr lang="en-US" sz="1600" b="1">
                <a:latin typeface="Arial"/>
                <a:cs typeface="Arial"/>
              </a:rPr>
              <a:t>integrity</a:t>
            </a:r>
            <a:r>
              <a:rPr lang="en-US" sz="1600">
                <a:latin typeface="Arial"/>
                <a:cs typeface="Arial"/>
              </a:rPr>
              <a:t>, </a:t>
            </a:r>
            <a:r>
              <a:rPr lang="en-US" sz="1600" b="1">
                <a:latin typeface="Arial"/>
                <a:cs typeface="Arial"/>
              </a:rPr>
              <a:t>transparency</a:t>
            </a:r>
            <a:r>
              <a:rPr lang="en-US" sz="1600">
                <a:latin typeface="Arial"/>
                <a:cs typeface="Arial"/>
              </a:rPr>
              <a:t>, and </a:t>
            </a:r>
            <a:r>
              <a:rPr lang="en-US" sz="1600" b="1">
                <a:latin typeface="Arial"/>
                <a:cs typeface="Arial"/>
              </a:rPr>
              <a:t>respect </a:t>
            </a:r>
            <a:r>
              <a:rPr lang="en-US" sz="1600">
                <a:latin typeface="Arial"/>
                <a:cs typeface="Arial"/>
              </a:rPr>
              <a:t>for participants in educational research. It advocates for the protection of participants' rights, ensuring voluntary informed consent, maintaining confidentiality, and minimizing harm. Researchers are encouraged to engage with participants ethically, ensuring that the research is conducted with honesty and accountability. BERA's guidelines aim to uphold the dignity and rights of all individuals involved in educational research.</a:t>
            </a:r>
          </a:p>
          <a:p>
            <a:pPr algn="just"/>
            <a:endParaRPr lang="en-US" sz="1600"/>
          </a:p>
        </p:txBody>
      </p:sp>
    </p:spTree>
    <p:extLst>
      <p:ext uri="{BB962C8B-B14F-4D97-AF65-F5344CB8AC3E}">
        <p14:creationId xmlns:p14="http://schemas.microsoft.com/office/powerpoint/2010/main" val="300751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F5A4-2FFC-6AFA-7699-876312B6045F}"/>
              </a:ext>
            </a:extLst>
          </p:cNvPr>
          <p:cNvSpPr>
            <a:spLocks noGrp="1"/>
          </p:cNvSpPr>
          <p:nvPr>
            <p:ph type="title"/>
          </p:nvPr>
        </p:nvSpPr>
        <p:spPr/>
        <p:txBody>
          <a:bodyPr>
            <a:normAutofit fontScale="90000"/>
          </a:bodyPr>
          <a:lstStyle/>
          <a:p>
            <a:pPr>
              <a:lnSpc>
                <a:spcPct val="107000"/>
              </a:lnSpc>
              <a:spcAft>
                <a:spcPts val="800"/>
              </a:spcAft>
            </a:pPr>
            <a:r>
              <a:rPr lang="en-GB" sz="2900" kern="100">
                <a:ea typeface="Aptos" panose="020B0004020202020204" pitchFamily="34" charset="0"/>
              </a:rPr>
              <a:t>Step</a:t>
            </a:r>
            <a:r>
              <a:rPr lang="en-GB" sz="2900" kern="100">
                <a:effectLst/>
                <a:ea typeface="Aptos" panose="020B0004020202020204" pitchFamily="34" charset="0"/>
              </a:rPr>
              <a:t> 5: Legal and Ethical Compliance (</a:t>
            </a:r>
            <a:r>
              <a:rPr lang="en-GB" sz="2900" kern="100">
                <a:ea typeface="Aptos" panose="020B0004020202020204" pitchFamily="34" charset="0"/>
              </a:rPr>
              <a:t>15</a:t>
            </a:r>
            <a:r>
              <a:rPr lang="en-GB" sz="2900" kern="100">
                <a:effectLst/>
                <a:ea typeface="Aptos" panose="020B0004020202020204" pitchFamily="34" charset="0"/>
              </a:rPr>
              <a:t> minutes)</a:t>
            </a:r>
          </a:p>
        </p:txBody>
      </p:sp>
      <p:sp>
        <p:nvSpPr>
          <p:cNvPr id="3" name="Content Placeholder 2">
            <a:extLst>
              <a:ext uri="{FF2B5EF4-FFF2-40B4-BE49-F238E27FC236}">
                <a16:creationId xmlns:a16="http://schemas.microsoft.com/office/drawing/2014/main" id="{375B83C0-92EA-E2FD-4228-E3AB70BDE753}"/>
              </a:ext>
            </a:extLst>
          </p:cNvPr>
          <p:cNvSpPr>
            <a:spLocks noGrp="1"/>
          </p:cNvSpPr>
          <p:nvPr>
            <p:ph idx="1"/>
          </p:nvPr>
        </p:nvSpPr>
        <p:spPr>
          <a:xfrm>
            <a:off x="478800" y="1249200"/>
            <a:ext cx="10875600" cy="5016133"/>
          </a:xfrm>
        </p:spPr>
        <p:txBody>
          <a:bodyPr>
            <a:normAutofit/>
          </a:bodyPr>
          <a:lstStyle/>
          <a:p>
            <a:pPr marL="0" indent="0" algn="just">
              <a:lnSpc>
                <a:spcPct val="107000"/>
              </a:lnSpc>
              <a:spcAft>
                <a:spcPts val="800"/>
              </a:spcAft>
              <a:buNone/>
            </a:pPr>
            <a:r>
              <a:rPr lang="en-GB" sz="2000" b="1" kern="100">
                <a:effectLst/>
                <a:ea typeface="Aptos" panose="020B0004020202020204" pitchFamily="34" charset="0"/>
              </a:rPr>
              <a:t>Task</a:t>
            </a:r>
            <a:r>
              <a:rPr lang="en-GB" sz="2000" kern="100">
                <a:effectLst/>
                <a:ea typeface="Aptos" panose="020B0004020202020204" pitchFamily="34" charset="0"/>
              </a:rPr>
              <a:t>: Analyse the interface for compliance with GDPR and BERA.</a:t>
            </a:r>
          </a:p>
          <a:p>
            <a:pPr marL="0" indent="0" algn="just">
              <a:lnSpc>
                <a:spcPct val="107000"/>
              </a:lnSpc>
              <a:spcAft>
                <a:spcPts val="800"/>
              </a:spcAft>
              <a:buNone/>
            </a:pPr>
            <a:r>
              <a:rPr lang="en-GB" sz="2000" b="1" kern="100">
                <a:effectLst/>
                <a:ea typeface="Aptos" panose="020B0004020202020204" pitchFamily="34" charset="0"/>
              </a:rPr>
              <a:t>Focus on:</a:t>
            </a:r>
          </a:p>
          <a:p>
            <a:pPr lvl="1">
              <a:lnSpc>
                <a:spcPct val="107000"/>
              </a:lnSpc>
              <a:spcAft>
                <a:spcPts val="800"/>
              </a:spcAft>
            </a:pPr>
            <a:r>
              <a:rPr lang="en-GB" sz="2000" b="1" kern="100">
                <a:effectLst/>
                <a:ea typeface="Aptos" panose="020B0004020202020204" pitchFamily="34" charset="0"/>
              </a:rPr>
              <a:t>Sensitive Data Identification</a:t>
            </a:r>
            <a:r>
              <a:rPr lang="en-GB" sz="2000" kern="100">
                <a:effectLst/>
                <a:ea typeface="Aptos" panose="020B0004020202020204" pitchFamily="34" charset="0"/>
              </a:rPr>
              <a:t>: Full name, email, date of birth, phone number, address.</a:t>
            </a:r>
          </a:p>
          <a:p>
            <a:pPr lvl="1">
              <a:lnSpc>
                <a:spcPct val="107000"/>
              </a:lnSpc>
              <a:spcAft>
                <a:spcPts val="800"/>
              </a:spcAft>
            </a:pPr>
            <a:r>
              <a:rPr lang="en-GB" sz="2000" b="1" kern="100">
                <a:effectLst/>
                <a:ea typeface="Aptos" panose="020B0004020202020204" pitchFamily="34" charset="0"/>
              </a:rPr>
              <a:t>Consent Mechanisms</a:t>
            </a:r>
            <a:r>
              <a:rPr lang="en-GB" sz="2000" kern="100">
                <a:effectLst/>
                <a:ea typeface="Aptos" panose="020B0004020202020204" pitchFamily="34" charset="0"/>
              </a:rPr>
              <a:t>: Explicit consent for data usage and marketing.</a:t>
            </a:r>
          </a:p>
          <a:p>
            <a:pPr lvl="1">
              <a:lnSpc>
                <a:spcPct val="107000"/>
              </a:lnSpc>
              <a:spcAft>
                <a:spcPts val="800"/>
              </a:spcAft>
            </a:pPr>
            <a:r>
              <a:rPr lang="en-GB" sz="2000" b="1" kern="100">
                <a:effectLst/>
                <a:ea typeface="Aptos" panose="020B0004020202020204" pitchFamily="34" charset="0"/>
              </a:rPr>
              <a:t>Data Minimization and Protection</a:t>
            </a:r>
            <a:r>
              <a:rPr lang="en-GB" sz="2000" kern="100">
                <a:effectLst/>
                <a:ea typeface="Aptos" panose="020B0004020202020204" pitchFamily="34" charset="0"/>
              </a:rPr>
              <a:t>: Collect only necessary data and ensure secure storage.</a:t>
            </a:r>
          </a:p>
          <a:p>
            <a:pPr marL="0" indent="0">
              <a:lnSpc>
                <a:spcPct val="107000"/>
              </a:lnSpc>
              <a:spcAft>
                <a:spcPts val="800"/>
              </a:spcAft>
              <a:buNone/>
            </a:pPr>
            <a:endParaRPr lang="en-GB" sz="2000" b="1" kern="100">
              <a:effectLst/>
              <a:ea typeface="Aptos" panose="020B0004020202020204" pitchFamily="34" charset="0"/>
            </a:endParaRPr>
          </a:p>
          <a:p>
            <a:pPr marL="0" indent="0">
              <a:lnSpc>
                <a:spcPct val="107000"/>
              </a:lnSpc>
              <a:spcAft>
                <a:spcPts val="800"/>
              </a:spcAft>
              <a:buNone/>
            </a:pPr>
            <a:r>
              <a:rPr lang="en-GB" sz="2000" b="1" kern="100">
                <a:effectLst/>
                <a:ea typeface="Aptos" panose="020B0004020202020204" pitchFamily="34" charset="0"/>
              </a:rPr>
              <a:t>Deliverable: </a:t>
            </a:r>
            <a:r>
              <a:rPr lang="en-GB" sz="2000" kern="100">
                <a:effectLst/>
                <a:ea typeface="Aptos" panose="020B0004020202020204" pitchFamily="34" charset="0"/>
              </a:rPr>
              <a:t>Compliance report and recommendations.</a:t>
            </a:r>
          </a:p>
        </p:txBody>
      </p:sp>
    </p:spTree>
    <p:extLst>
      <p:ext uri="{BB962C8B-B14F-4D97-AF65-F5344CB8AC3E}">
        <p14:creationId xmlns:p14="http://schemas.microsoft.com/office/powerpoint/2010/main" val="86324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F5A4-2FFC-6AFA-7699-876312B6045F}"/>
              </a:ext>
            </a:extLst>
          </p:cNvPr>
          <p:cNvSpPr>
            <a:spLocks noGrp="1"/>
          </p:cNvSpPr>
          <p:nvPr>
            <p:ph type="title"/>
          </p:nvPr>
        </p:nvSpPr>
        <p:spPr>
          <a:xfrm>
            <a:off x="3288128" y="331933"/>
            <a:ext cx="8607406" cy="759600"/>
          </a:xfrm>
        </p:spPr>
        <p:txBody>
          <a:bodyPr>
            <a:noAutofit/>
          </a:bodyPr>
          <a:lstStyle/>
          <a:p>
            <a:pPr>
              <a:lnSpc>
                <a:spcPct val="107000"/>
              </a:lnSpc>
              <a:spcAft>
                <a:spcPts val="800"/>
              </a:spcAft>
            </a:pPr>
            <a:r>
              <a:rPr lang="en-GB" sz="2900" kern="100">
                <a:effectLst/>
                <a:ea typeface="Aptos" panose="020B0004020202020204" pitchFamily="34" charset="0"/>
              </a:rPr>
              <a:t>Step 6: Usability testing, Presen</a:t>
            </a:r>
            <a:r>
              <a:rPr lang="en-GB" sz="2900" kern="100">
                <a:ea typeface="Aptos" panose="020B0004020202020204" pitchFamily="34" charset="0"/>
              </a:rPr>
              <a:t>tation and Feedback and reflection (15 minutes)</a:t>
            </a:r>
            <a:endParaRPr lang="en-GB" sz="2900" kern="100">
              <a:effectLst/>
              <a:ea typeface="Aptos" panose="020B0004020202020204" pitchFamily="34" charset="0"/>
            </a:endParaRPr>
          </a:p>
        </p:txBody>
      </p:sp>
      <p:sp>
        <p:nvSpPr>
          <p:cNvPr id="3" name="Content Placeholder 2">
            <a:extLst>
              <a:ext uri="{FF2B5EF4-FFF2-40B4-BE49-F238E27FC236}">
                <a16:creationId xmlns:a16="http://schemas.microsoft.com/office/drawing/2014/main" id="{375B83C0-92EA-E2FD-4228-E3AB70BDE753}"/>
              </a:ext>
            </a:extLst>
          </p:cNvPr>
          <p:cNvSpPr>
            <a:spLocks noGrp="1"/>
          </p:cNvSpPr>
          <p:nvPr>
            <p:ph idx="1"/>
          </p:nvPr>
        </p:nvSpPr>
        <p:spPr>
          <a:xfrm>
            <a:off x="478800" y="1529395"/>
            <a:ext cx="10875600" cy="4735938"/>
          </a:xfrm>
        </p:spPr>
        <p:txBody>
          <a:bodyPr>
            <a:normAutofit/>
          </a:bodyPr>
          <a:lstStyle/>
          <a:p>
            <a:pPr marL="0" indent="0">
              <a:lnSpc>
                <a:spcPct val="107000"/>
              </a:lnSpc>
              <a:spcAft>
                <a:spcPts val="800"/>
              </a:spcAft>
              <a:buNone/>
            </a:pPr>
            <a:r>
              <a:rPr lang="en-GB" b="1" kern="100">
                <a:effectLst/>
                <a:ea typeface="Aptos" panose="020B0004020202020204" pitchFamily="34" charset="0"/>
              </a:rPr>
              <a:t>Task</a:t>
            </a:r>
            <a:r>
              <a:rPr lang="en-GB" kern="100">
                <a:effectLst/>
                <a:ea typeface="Aptos" panose="020B0004020202020204" pitchFamily="34" charset="0"/>
              </a:rPr>
              <a:t>: </a:t>
            </a:r>
            <a:r>
              <a:rPr lang="en-GB" sz="2200" kern="100">
                <a:effectLst/>
                <a:ea typeface="Aptos" panose="020B0004020202020204" pitchFamily="34" charset="0"/>
              </a:rPr>
              <a:t>Present your design and compliance reports to the rest of the group.</a:t>
            </a:r>
          </a:p>
          <a:p>
            <a:pPr lvl="1">
              <a:lnSpc>
                <a:spcPct val="107000"/>
              </a:lnSpc>
              <a:spcAft>
                <a:spcPts val="800"/>
              </a:spcAft>
            </a:pPr>
            <a:r>
              <a:rPr lang="en-GB" sz="2000" kern="100">
                <a:effectLst/>
                <a:ea typeface="Aptos" panose="020B0004020202020204" pitchFamily="34" charset="0"/>
              </a:rPr>
              <a:t>Receive feedback from peers and instructor.</a:t>
            </a:r>
          </a:p>
          <a:p>
            <a:pPr lvl="1">
              <a:lnSpc>
                <a:spcPct val="107000"/>
              </a:lnSpc>
              <a:spcAft>
                <a:spcPts val="800"/>
              </a:spcAft>
            </a:pPr>
            <a:r>
              <a:rPr lang="en-GB" sz="2000" kern="100">
                <a:effectLst/>
                <a:ea typeface="Aptos" panose="020B0004020202020204" pitchFamily="34" charset="0"/>
              </a:rPr>
              <a:t>Focus on usability improvements and adherence to legal and ethical standards.</a:t>
            </a:r>
          </a:p>
          <a:p>
            <a:pPr marL="0" indent="0" algn="just">
              <a:lnSpc>
                <a:spcPct val="107000"/>
              </a:lnSpc>
              <a:spcAft>
                <a:spcPts val="800"/>
              </a:spcAft>
              <a:buNone/>
            </a:pPr>
            <a:endParaRPr lang="en-GB" kern="100">
              <a:effectLst/>
              <a:ea typeface="Aptos" panose="020B0004020202020204" pitchFamily="34" charset="0"/>
            </a:endParaRPr>
          </a:p>
        </p:txBody>
      </p:sp>
    </p:spTree>
    <p:extLst>
      <p:ext uri="{BB962C8B-B14F-4D97-AF65-F5344CB8AC3E}">
        <p14:creationId xmlns:p14="http://schemas.microsoft.com/office/powerpoint/2010/main" val="241740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Recap</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a:bodyPr>
          <a:lstStyle/>
          <a:p>
            <a:pPr marL="0" indent="0">
              <a:buNone/>
            </a:pPr>
            <a:r>
              <a:rPr lang="en-GB"/>
              <a:t>In today’s session, you applied the concepts we discussed in the lecture session: </a:t>
            </a:r>
            <a:r>
              <a:rPr lang="en-GB" b="1"/>
              <a:t>user’s perception and cognition</a:t>
            </a:r>
            <a:r>
              <a:rPr lang="en-GB"/>
              <a:t>; </a:t>
            </a:r>
            <a:r>
              <a:rPr lang="en-GB" b="1"/>
              <a:t>accessibility and user context sensitivity</a:t>
            </a:r>
            <a:r>
              <a:rPr lang="en-GB"/>
              <a:t>; </a:t>
            </a:r>
            <a:r>
              <a:rPr lang="en-GB" b="1"/>
              <a:t>Norman's Design Principles</a:t>
            </a:r>
            <a:r>
              <a:rPr lang="en-GB"/>
              <a:t>; and </a:t>
            </a:r>
            <a:r>
              <a:rPr lang="en-GB" b="1"/>
              <a:t>legal and ethical compliance</a:t>
            </a:r>
            <a:r>
              <a:rPr lang="en-GB"/>
              <a:t>.</a:t>
            </a:r>
          </a:p>
          <a:p>
            <a:pPr marL="0" indent="0">
              <a:buNone/>
            </a:pPr>
            <a:endParaRPr lang="en-GB"/>
          </a:p>
          <a:p>
            <a:pPr marL="0" indent="0">
              <a:buNone/>
            </a:pPr>
            <a:r>
              <a:rPr lang="en-GB"/>
              <a:t>If you need some extra practice, you can use the materials available for self-study in the VLE platform, or ask your tutor for advice.</a:t>
            </a:r>
          </a:p>
        </p:txBody>
      </p:sp>
    </p:spTree>
    <p:extLst>
      <p:ext uri="{BB962C8B-B14F-4D97-AF65-F5344CB8AC3E}">
        <p14:creationId xmlns:p14="http://schemas.microsoft.com/office/powerpoint/2010/main" val="397325589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71891C3A0F1E4097D718CB3CBB8576" ma:contentTypeVersion="30" ma:contentTypeDescription="Create a new document." ma:contentTypeScope="" ma:versionID="8cce30ac9c16b1b0d04953d0a5277067">
  <xsd:schema xmlns:xsd="http://www.w3.org/2001/XMLSchema" xmlns:xs="http://www.w3.org/2001/XMLSchema" xmlns:p="http://schemas.microsoft.com/office/2006/metadata/properties" xmlns:ns2="c146334c-f196-4c85-90ef-f2308d7aa00b" xmlns:ns3="cd447e77-e15c-4fa0-938c-91439d6c39a0" targetNamespace="http://schemas.microsoft.com/office/2006/metadata/properties" ma:root="true" ma:fieldsID="959d5dc7c8f93108e7912ec25b55dcad" ns2:_="" ns3:_="">
    <xsd:import namespace="c146334c-f196-4c85-90ef-f2308d7aa00b"/>
    <xsd:import namespace="cd447e77-e15c-4fa0-938c-91439d6c39a0"/>
    <xsd:element name="properties">
      <xsd:complexType>
        <xsd:sequence>
          <xsd:element name="documentManagement">
            <xsd:complexType>
              <xsd:all>
                <xsd:element ref="ns2:LatestCCPhase" minOccurs="0"/>
                <xsd:element ref="ns2:LatestPublishingPhase" minOccurs="0"/>
                <xsd:element ref="ns2:NotesUpdates" minOccurs="0"/>
                <xsd:element ref="ns2:MediaServiceMetadata" minOccurs="0"/>
                <xsd:element ref="ns2:MediaServiceFastMetadata" minOccurs="0"/>
                <xsd:element ref="ns3:SharedWithUsers" minOccurs="0"/>
                <xsd:element ref="ns3:SharedWithDetails" minOccurs="0"/>
                <xsd:element ref="ns2:Status" minOccurs="0"/>
                <xsd:element ref="ns2:SubmissionDeadline" minOccurs="0"/>
                <xsd:element ref="ns2:ModuleStartsIn"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odule_x0020_Work_x0020_Requirement" minOccurs="0"/>
                <xsd:element ref="ns2:CompassFeedback" minOccurs="0"/>
                <xsd:element ref="ns2:Moodle_x002f_VLELink" minOccurs="0"/>
                <xsd:element ref="ns2:SubjectReviewer_x002c_ContentEditorPedagogicalBuilder" minOccurs="0"/>
                <xsd:element ref="ns2:ContentCreato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46334c-f196-4c85-90ef-f2308d7aa00b" elementFormDefault="qualified">
    <xsd:import namespace="http://schemas.microsoft.com/office/2006/documentManagement/types"/>
    <xsd:import namespace="http://schemas.microsoft.com/office/infopath/2007/PartnerControls"/>
    <xsd:element name="LatestCCPhase" ma:index="8" nillable="true" ma:displayName="Latest CC Phase" ma:description="This column contains updates on the work involving the Content Creator. The 'Latest CC Phase' can be chosen only when resources have been signed off by both Subject Reviewer and Content Editor." ma:format="Dropdown" ma:internalName="LatestCCPhase">
      <xsd:complexType>
        <xsd:complexContent>
          <xsd:extension base="dms:MultiChoice">
            <xsd:sequence>
              <xsd:element name="Value" maxOccurs="unbounded" minOccurs="0" nillable="true">
                <xsd:simpleType>
                  <xsd:restriction base="dms:Choice">
                    <xsd:enumeration value="Phase 1. Onboarding."/>
                    <xsd:enumeration value="Phase 2. Assessment Brief."/>
                    <xsd:enumeration value="Phase 3. Scheme of Work."/>
                    <xsd:enumeration value="Phase 4. Material building in progress"/>
                    <xsd:enumeration value="Phase 4. Week 1 Resources."/>
                    <xsd:enumeration value="Phase 4. Week 2 Resources."/>
                    <xsd:enumeration value="Phase 4 Week 3 Resources."/>
                    <xsd:enumeration value="Phase 4. Week 4 Resources."/>
                    <xsd:enumeration value="Phase 4. Week 5 Resources."/>
                    <xsd:enumeration value="Phase 4. Week 6 Resources."/>
                    <xsd:enumeration value="Phase 4. Week 7 Resources."/>
                    <xsd:enumeration value="Phase 4. Week 8 Resources."/>
                    <xsd:enumeration value="Phase 4. Week 9 Resources."/>
                    <xsd:enumeration value="Phase 4. Week 10 Resources."/>
                    <xsd:enumeration value="Phase 5. Payment processed."/>
                    <xsd:enumeration value="Phase 5. Material building completed"/>
                    <xsd:enumeration value="Phase 5. Feedback collected."/>
                    <xsd:enumeration value="ALL COMPLETED"/>
                  </xsd:restriction>
                </xsd:simpleType>
              </xsd:element>
            </xsd:sequence>
          </xsd:extension>
        </xsd:complexContent>
      </xsd:complexType>
    </xsd:element>
    <xsd:element name="LatestPublishingPhase" ma:index="9" nillable="true" ma:displayName="Latest Publishing Phase " ma:description="This column contains updates on the work involving Instructional Designer(s). Latest Publishing Phase can be chosen only once the work on this phase is completed." ma:format="Dropdown" ma:internalName="LatestPublishingPhase">
      <xsd:complexType>
        <xsd:complexContent>
          <xsd:extension base="dms:MultiChoice">
            <xsd:sequence>
              <xsd:element name="Value" maxOccurs="unbounded" minOccurs="0" nillable="true">
                <xsd:simpleType>
                  <xsd:restriction base="dms:Choice">
                    <xsd:enumeration value="Not due yet"/>
                    <xsd:enumeration value="Week 1 in Design"/>
                    <xsd:enumeration value="Week 1 on Moodle"/>
                    <xsd:enumeration value="Week 2 in Design"/>
                    <xsd:enumeration value="Week 2 on Moodle"/>
                    <xsd:enumeration value="Week 3 in Design"/>
                    <xsd:enumeration value="Week 3 on Moodle"/>
                    <xsd:enumeration value="Week 4 in Design"/>
                    <xsd:enumeration value="Week 4 on Moodle"/>
                    <xsd:enumeration value="Week 5 in Evolve"/>
                    <xsd:enumeration value="Week 5 on Moodle"/>
                    <xsd:enumeration value="Week 6 in Design"/>
                    <xsd:enumeration value="Week 6 on Moodle"/>
                    <xsd:enumeration value="Week 7 in Design"/>
                    <xsd:enumeration value="Week 7 on Moodle"/>
                    <xsd:enumeration value="Week 8 in Design"/>
                    <xsd:enumeration value="Week 8 on Moodle"/>
                    <xsd:enumeration value="Week 9 in Design"/>
                    <xsd:enumeration value="Week 9 on Moodle"/>
                    <xsd:enumeration value="Week 10 in Evolve"/>
                    <xsd:enumeration value="Week 10 on Moodle"/>
                    <xsd:enumeration value="Workshop in Design"/>
                    <xsd:enumeration value="Workshop on Moodle"/>
                  </xsd:restriction>
                </xsd:simpleType>
              </xsd:element>
            </xsd:sequence>
          </xsd:extension>
        </xsd:complexContent>
      </xsd:complexType>
    </xsd:element>
    <xsd:element name="NotesUpdates" ma:index="10" nillable="true" ma:displayName="Notes &amp; Updates" ma:format="Dropdown" ma:internalName="NotesUpdate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Status" ma:index="15" nillable="true" ma:displayName="Status" ma:format="Dropdown" ma:internalName="Status">
      <xsd:complexType>
        <xsd:complexContent>
          <xsd:extension base="dms:MultiChoice">
            <xsd:sequence>
              <xsd:element name="Value" maxOccurs="unbounded" minOccurs="0" nillable="true">
                <xsd:simpleType>
                  <xsd:restriction base="dms:Choice">
                    <xsd:enumeration value="Not yet due to start"/>
                    <xsd:enumeration value="Not yet started &amp; overdue"/>
                    <xsd:enumeration value="Work in progress &amp; on track"/>
                    <xsd:enumeration value="Work in progress &amp; overdue"/>
                    <xsd:enumeration value="Awaiting Full review"/>
                    <xsd:enumeration value="Awaiting SR review"/>
                    <xsd:enumeration value="Awaiting CE review"/>
                    <xsd:enumeration value="Awaiting PR review"/>
                    <xsd:enumeration value="Awaiting modifications"/>
                    <xsd:enumeration value="2nd Review required"/>
                    <xsd:enumeration value="SR approved"/>
                    <xsd:enumeration value="CE approved"/>
                    <xsd:enumeration value="With Instructional Designer"/>
                    <xsd:enumeration value="COMPLETED"/>
                    <xsd:enumeration value="Sent for scrutiny"/>
                    <xsd:enumeration value="On hold"/>
                    <xsd:enumeration value="No longer relevant"/>
                  </xsd:restriction>
                </xsd:simpleType>
              </xsd:element>
            </xsd:sequence>
          </xsd:extension>
        </xsd:complexContent>
      </xsd:complexType>
    </xsd:element>
    <xsd:element name="SubmissionDeadline" ma:index="16" nillable="true" ma:displayName="Submission Deadline" ma:format="DateOnly" ma:internalName="SubmissionDeadline">
      <xsd:simpleType>
        <xsd:restriction base="dms:DateTime"/>
      </xsd:simpleType>
    </xsd:element>
    <xsd:element name="ModuleStartsIn" ma:index="17" nillable="true" ma:displayName="Module Starts In" ma:format="Dropdown" ma:internalName="ModuleStartsIn">
      <xsd:complexType>
        <xsd:complexContent>
          <xsd:extension base="dms:MultiChoice">
            <xsd:sequence>
              <xsd:element name="Value" maxOccurs="unbounded" minOccurs="0" nillable="true">
                <xsd:simpleType>
                  <xsd:restriction base="dms:Choice">
                    <xsd:enumeration value="January 2024"/>
                    <xsd:enumeration value="April 2024"/>
                    <xsd:enumeration value="May 2024"/>
                    <xsd:enumeration value="June 2024"/>
                    <xsd:enumeration value="August 2024"/>
                    <xsd:enumeration value="October 2024"/>
                    <xsd:enumeration value="November 2024"/>
                    <xsd:enumeration value="TBC"/>
                    <xsd:enumeration value="April 2025"/>
                  </xsd:restriction>
                </xsd:simpleType>
              </xsd:element>
            </xsd:sequence>
          </xsd:extension>
        </xsd:complexContent>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element name="Module_x0020_Work_x0020_Requirement" ma:index="28" nillable="true" ma:displayName="Module Work Requirement" ma:format="Dropdown" ma:internalName="Module_x0020_Work_x0020_Requirement">
      <xsd:simpleType>
        <xsd:restriction base="dms:Choice">
          <xsd:enumeration value="Refurbish or Refurbishment"/>
          <xsd:enumeration value="Total rework"/>
        </xsd:restriction>
      </xsd:simpleType>
    </xsd:element>
    <xsd:element name="CompassFeedback" ma:index="29" nillable="true" ma:displayName="Compass Feedback" ma:format="Dropdown" ma:internalName="CompassFeedback">
      <xsd:complexType>
        <xsd:complexContent>
          <xsd:extension base="dms:MultiChoice">
            <xsd:sequence>
              <xsd:element name="Value" maxOccurs="unbounded" minOccurs="0" nillable="true">
                <xsd:simpleType>
                  <xsd:restriction base="dms:Choice">
                    <xsd:enumeration value="Given to CC"/>
                    <xsd:enumeration value="Given to SR"/>
                  </xsd:restriction>
                </xsd:simpleType>
              </xsd:element>
            </xsd:sequence>
          </xsd:extension>
        </xsd:complexContent>
      </xsd:complexType>
    </xsd:element>
    <xsd:element name="Moodle_x002f_VLELink" ma:index="30" nillable="true" ma:displayName="Moodle/VLE Link" ma:format="Hyperlink" ma:internalName="Moodle_x002f_VLELink">
      <xsd:complexType>
        <xsd:complexContent>
          <xsd:extension base="dms:URL">
            <xsd:sequence>
              <xsd:element name="Url" type="dms:ValidUrl" minOccurs="0" nillable="true"/>
              <xsd:element name="Description" type="xsd:string" nillable="true"/>
            </xsd:sequence>
          </xsd:extension>
        </xsd:complexContent>
      </xsd:complexType>
    </xsd:element>
    <xsd:element name="SubjectReviewer_x002c_ContentEditorPedagogicalBuilder" ma:index="31" nillable="true" ma:displayName="Subject Reviewer, Content Editor &amp; Pedagogical Builder" ma:format="Dropdown" ma:list="UserInfo" ma:SharePointGroup="0" ma:internalName="SubjectReviewer_x002c_ContentEditorPedagogicalBuilder">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Creators" ma:index="32" nillable="true" ma:displayName="Content Creators" ma:format="Dropdown" ma:list="UserInfo" ma:SharePointGroup="0" ma:internalName="ContentCreato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447e77-e15c-4fa0-938c-91439d6c39a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e4a00e5d-14fc-4527-bcc9-fb05b108b7f4}" ma:internalName="TaxCatchAll" ma:showField="CatchAllData" ma:web="cd447e77-e15c-4fa0-938c-91439d6c39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c146334c-f196-4c85-90ef-f2308d7aa00b" xsi:nil="true"/>
    <SubmissionDeadline xmlns="c146334c-f196-4c85-90ef-f2308d7aa00b" xsi:nil="true"/>
    <CompassFeedback xmlns="c146334c-f196-4c85-90ef-f2308d7aa00b" xsi:nil="true"/>
    <ContentCreators xmlns="c146334c-f196-4c85-90ef-f2308d7aa00b">
      <UserInfo>
        <DisplayName/>
        <AccountId xsi:nil="true"/>
        <AccountType/>
      </UserInfo>
    </ContentCreators>
    <Moodle_x002f_VLELink xmlns="c146334c-f196-4c85-90ef-f2308d7aa00b">
      <Url xsi:nil="true"/>
      <Description xsi:nil="true"/>
    </Moodle_x002f_VLELink>
    <Module_x0020_Work_x0020_Requirement xmlns="c146334c-f196-4c85-90ef-f2308d7aa00b" xsi:nil="true"/>
    <NotesUpdates xmlns="c146334c-f196-4c85-90ef-f2308d7aa00b" xsi:nil="true"/>
    <TaxCatchAll xmlns="cd447e77-e15c-4fa0-938c-91439d6c39a0" xsi:nil="true"/>
    <LatestCCPhase xmlns="c146334c-f196-4c85-90ef-f2308d7aa00b" xsi:nil="true"/>
    <lcf76f155ced4ddcb4097134ff3c332f xmlns="c146334c-f196-4c85-90ef-f2308d7aa00b">
      <Terms xmlns="http://schemas.microsoft.com/office/infopath/2007/PartnerControls"/>
    </lcf76f155ced4ddcb4097134ff3c332f>
    <SubjectReviewer_x002c_ContentEditorPedagogicalBuilder xmlns="c146334c-f196-4c85-90ef-f2308d7aa00b">
      <UserInfo>
        <DisplayName/>
        <AccountId xsi:nil="true"/>
        <AccountType/>
      </UserInfo>
    </SubjectReviewer_x002c_ContentEditorPedagogicalBuilder>
    <LatestPublishingPhase xmlns="c146334c-f196-4c85-90ef-f2308d7aa00b" xsi:nil="true"/>
    <ModuleStartsIn xmlns="c146334c-f196-4c85-90ef-f2308d7aa00b" xsi:nil="true"/>
  </documentManagement>
</p:properties>
</file>

<file path=customXml/itemProps1.xml><?xml version="1.0" encoding="utf-8"?>
<ds:datastoreItem xmlns:ds="http://schemas.openxmlformats.org/officeDocument/2006/customXml" ds:itemID="{84EE3D7D-32B4-4896-83C3-F0A239693980}"/>
</file>

<file path=customXml/itemProps2.xml><?xml version="1.0" encoding="utf-8"?>
<ds:datastoreItem xmlns:ds="http://schemas.openxmlformats.org/officeDocument/2006/customXml" ds:itemID="{7C7DB3BD-81C1-4C85-B83F-249F6CC6EAD4}"/>
</file>

<file path=customXml/itemProps3.xml><?xml version="1.0" encoding="utf-8"?>
<ds:datastoreItem xmlns:ds="http://schemas.openxmlformats.org/officeDocument/2006/customXml" ds:itemID="{01441314-F9ED-4294-A209-AC2F47BE577E}"/>
</file>

<file path=docProps/app.xml><?xml version="1.0" encoding="utf-8"?>
<Properties xmlns="http://schemas.openxmlformats.org/officeDocument/2006/extended-properties" xmlns:vt="http://schemas.openxmlformats.org/officeDocument/2006/docPropsVTypes">
  <TotalTime>1</TotalTime>
  <Words>1043</Words>
  <Application>Microsoft Office PowerPoint</Application>
  <PresentationFormat>Widescreen</PresentationFormat>
  <Paragraphs>94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1_Office Theme</vt:lpstr>
      <vt:lpstr>Seminar</vt:lpstr>
      <vt:lpstr>Session Outline</vt:lpstr>
      <vt:lpstr>Session outline</vt:lpstr>
      <vt:lpstr>Session Outline</vt:lpstr>
      <vt:lpstr>Step 1: Group Discussion on Visual Perception Design Elements (15 minutes)</vt:lpstr>
      <vt:lpstr>Step 2: Enhancing Cognition with Visual Aids (15 minutes)</vt:lpstr>
      <vt:lpstr>Step 3: Accessibility Considerations (15 minutes)</vt:lpstr>
      <vt:lpstr>Step 4: Applying Norman's Design Principles (15 minutes)</vt:lpstr>
      <vt:lpstr>GDPR and BERA</vt:lpstr>
      <vt:lpstr>Step 5: Legal and Ethical Compliance (15 minutes)</vt:lpstr>
      <vt:lpstr>Step 6: Usability testing, Presentation and Feedback and reflection (15 minutes)</vt:lpstr>
      <vt:lpstr>Session 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Fisher, John</dc:creator>
  <cp:lastModifiedBy>Fisher, John</cp:lastModifiedBy>
  <cp:revision>1</cp:revision>
  <dcterms:created xsi:type="dcterms:W3CDTF">2024-06-28T08:51:53Z</dcterms:created>
  <dcterms:modified xsi:type="dcterms:W3CDTF">2024-06-28T08:53:33Z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0x0101009C71891C3A0F1E4097D718CB3CBB8576</vt:lpwstr>
  </property>
</Properties>
</file>